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3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3813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128016"/>
            <a:ext cx="822960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Udbud af DVR – tidsplan v. 10-09-26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481328" y="566928"/>
            <a:ext cx="3233064" cy="182880"/>
          </a:xfrm>
          <a:prstGeom prst="rect">
            <a:avLst/>
          </a:prstGeom>
          <a:solidFill>
            <a:srgbClr val="44546A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5" name="Text 3"/>
          <p:cNvSpPr txBox="1"/>
          <p:nvPr/>
        </p:nvSpPr>
        <p:spPr>
          <a:xfrm>
            <a:off x="1527048" y="566928"/>
            <a:ext cx="9144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723536" y="566928"/>
            <a:ext cx="7245960" cy="182880"/>
          </a:xfrm>
          <a:prstGeom prst="rect">
            <a:avLst/>
          </a:prstGeom>
          <a:solidFill>
            <a:srgbClr val="44546A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7" name="Text 5"/>
          <p:cNvSpPr txBox="1"/>
          <p:nvPr/>
        </p:nvSpPr>
        <p:spPr>
          <a:xfrm>
            <a:off x="4769256" y="566928"/>
            <a:ext cx="9144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481328" y="749808"/>
            <a:ext cx="788120" cy="201168"/>
          </a:xfrm>
          <a:prstGeom prst="rect">
            <a:avLst/>
          </a:prstGeom>
          <a:solidFill>
            <a:srgbClr val="5B6F87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9" name="Text 7"/>
          <p:cNvSpPr txBox="1"/>
          <p:nvPr/>
        </p:nvSpPr>
        <p:spPr>
          <a:xfrm>
            <a:off x="1481328" y="749808"/>
            <a:ext cx="79726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78592" y="749808"/>
            <a:ext cx="814696" cy="201168"/>
          </a:xfrm>
          <a:prstGeom prst="rect">
            <a:avLst/>
          </a:prstGeom>
          <a:solidFill>
            <a:srgbClr val="5B6F87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1" name="Text 9"/>
          <p:cNvSpPr txBox="1"/>
          <p:nvPr/>
        </p:nvSpPr>
        <p:spPr>
          <a:xfrm>
            <a:off x="2278592" y="749808"/>
            <a:ext cx="8238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102432" y="749808"/>
            <a:ext cx="788120" cy="201168"/>
          </a:xfrm>
          <a:prstGeom prst="rect">
            <a:avLst/>
          </a:prstGeom>
          <a:solidFill>
            <a:srgbClr val="5B6F87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3" name="Text 11"/>
          <p:cNvSpPr txBox="1"/>
          <p:nvPr/>
        </p:nvSpPr>
        <p:spPr>
          <a:xfrm>
            <a:off x="3102432" y="749808"/>
            <a:ext cx="79726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99696" y="749808"/>
            <a:ext cx="814696" cy="201168"/>
          </a:xfrm>
          <a:prstGeom prst="rect">
            <a:avLst/>
          </a:prstGeom>
          <a:solidFill>
            <a:srgbClr val="5B6F87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5" name="Text 13"/>
          <p:cNvSpPr txBox="1"/>
          <p:nvPr/>
        </p:nvSpPr>
        <p:spPr>
          <a:xfrm>
            <a:off x="3899696" y="749808"/>
            <a:ext cx="8238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23536" y="749808"/>
            <a:ext cx="814696" cy="201168"/>
          </a:xfrm>
          <a:prstGeom prst="rect">
            <a:avLst/>
          </a:prstGeom>
          <a:solidFill>
            <a:srgbClr val="5B6F87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7" name="Text 15"/>
          <p:cNvSpPr txBox="1"/>
          <p:nvPr/>
        </p:nvSpPr>
        <p:spPr>
          <a:xfrm>
            <a:off x="4723536" y="749808"/>
            <a:ext cx="8238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547375" y="749808"/>
            <a:ext cx="734969" cy="201168"/>
          </a:xfrm>
          <a:prstGeom prst="rect">
            <a:avLst/>
          </a:prstGeom>
          <a:solidFill>
            <a:srgbClr val="5B6F87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9" name="Text 17"/>
          <p:cNvSpPr txBox="1"/>
          <p:nvPr/>
        </p:nvSpPr>
        <p:spPr>
          <a:xfrm>
            <a:off x="5547375" y="749808"/>
            <a:ext cx="744113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291489" y="749808"/>
            <a:ext cx="814696" cy="201168"/>
          </a:xfrm>
          <a:prstGeom prst="rect">
            <a:avLst/>
          </a:prstGeom>
          <a:solidFill>
            <a:srgbClr val="5B6F87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21" name="Text 19"/>
          <p:cNvSpPr txBox="1"/>
          <p:nvPr/>
        </p:nvSpPr>
        <p:spPr>
          <a:xfrm>
            <a:off x="6291489" y="749808"/>
            <a:ext cx="8238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115328" y="749808"/>
            <a:ext cx="788120" cy="201168"/>
          </a:xfrm>
          <a:prstGeom prst="rect">
            <a:avLst/>
          </a:prstGeom>
          <a:solidFill>
            <a:srgbClr val="5B6F87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23" name="Text 21"/>
          <p:cNvSpPr txBox="1"/>
          <p:nvPr/>
        </p:nvSpPr>
        <p:spPr>
          <a:xfrm>
            <a:off x="7115328" y="749808"/>
            <a:ext cx="79726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912593" y="749808"/>
            <a:ext cx="814696" cy="201168"/>
          </a:xfrm>
          <a:prstGeom prst="rect">
            <a:avLst/>
          </a:prstGeom>
          <a:solidFill>
            <a:srgbClr val="5B6F87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25" name="Text 23"/>
          <p:cNvSpPr txBox="1"/>
          <p:nvPr/>
        </p:nvSpPr>
        <p:spPr>
          <a:xfrm>
            <a:off x="7912593" y="749808"/>
            <a:ext cx="8238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736432" y="749808"/>
            <a:ext cx="788120" cy="201168"/>
          </a:xfrm>
          <a:prstGeom prst="rect">
            <a:avLst/>
          </a:prstGeom>
          <a:solidFill>
            <a:srgbClr val="5B6F87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27" name="Text 25"/>
          <p:cNvSpPr txBox="1"/>
          <p:nvPr/>
        </p:nvSpPr>
        <p:spPr>
          <a:xfrm>
            <a:off x="8736432" y="749808"/>
            <a:ext cx="79726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533696" y="749808"/>
            <a:ext cx="814696" cy="201168"/>
          </a:xfrm>
          <a:prstGeom prst="rect">
            <a:avLst/>
          </a:prstGeom>
          <a:solidFill>
            <a:srgbClr val="5B6F87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29" name="Text 27"/>
          <p:cNvSpPr txBox="1"/>
          <p:nvPr/>
        </p:nvSpPr>
        <p:spPr>
          <a:xfrm>
            <a:off x="9533696" y="749808"/>
            <a:ext cx="8238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0357536" y="749808"/>
            <a:ext cx="814696" cy="201168"/>
          </a:xfrm>
          <a:prstGeom prst="rect">
            <a:avLst/>
          </a:prstGeom>
          <a:solidFill>
            <a:srgbClr val="5B6F87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31" name="Text 29"/>
          <p:cNvSpPr txBox="1"/>
          <p:nvPr/>
        </p:nvSpPr>
        <p:spPr>
          <a:xfrm>
            <a:off x="10357536" y="749808"/>
            <a:ext cx="8238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1181376" y="749808"/>
            <a:ext cx="788120" cy="201168"/>
          </a:xfrm>
          <a:prstGeom prst="rect">
            <a:avLst/>
          </a:prstGeom>
          <a:solidFill>
            <a:srgbClr val="5B6F87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33" name="Text 31"/>
          <p:cNvSpPr txBox="1"/>
          <p:nvPr/>
        </p:nvSpPr>
        <p:spPr>
          <a:xfrm>
            <a:off x="11181376" y="749808"/>
            <a:ext cx="79726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198866" y="996696"/>
            <a:ext cx="178713" cy="118872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35" name="Shape 33"/>
          <p:cNvSpPr/>
          <p:nvPr/>
        </p:nvSpPr>
        <p:spPr>
          <a:xfrm>
            <a:off x="2384894" y="996696"/>
            <a:ext cx="178713" cy="118872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36" name="Shape 34"/>
          <p:cNvSpPr/>
          <p:nvPr/>
        </p:nvSpPr>
        <p:spPr>
          <a:xfrm>
            <a:off x="2570922" y="996696"/>
            <a:ext cx="178713" cy="118872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37" name="Shape 35"/>
          <p:cNvSpPr/>
          <p:nvPr/>
        </p:nvSpPr>
        <p:spPr>
          <a:xfrm>
            <a:off x="2756951" y="996696"/>
            <a:ext cx="178713" cy="118872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38" name="Shape 36"/>
          <p:cNvSpPr/>
          <p:nvPr/>
        </p:nvSpPr>
        <p:spPr>
          <a:xfrm>
            <a:off x="2942979" y="996696"/>
            <a:ext cx="178713" cy="118872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39" name="Shape 37"/>
          <p:cNvSpPr/>
          <p:nvPr/>
        </p:nvSpPr>
        <p:spPr>
          <a:xfrm>
            <a:off x="3129007" y="996696"/>
            <a:ext cx="178713" cy="118872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40" name="Shape 38"/>
          <p:cNvSpPr/>
          <p:nvPr/>
        </p:nvSpPr>
        <p:spPr>
          <a:xfrm>
            <a:off x="3315036" y="996696"/>
            <a:ext cx="178713" cy="118872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41" name="Shape 39"/>
          <p:cNvSpPr/>
          <p:nvPr/>
        </p:nvSpPr>
        <p:spPr>
          <a:xfrm>
            <a:off x="3501064" y="996696"/>
            <a:ext cx="178713" cy="118872"/>
          </a:xfrm>
          <a:prstGeom prst="rect">
            <a:avLst/>
          </a:prstGeom>
          <a:solidFill>
            <a:srgbClr val="A6A6A6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42" name="Shape 40"/>
          <p:cNvSpPr/>
          <p:nvPr/>
        </p:nvSpPr>
        <p:spPr>
          <a:xfrm>
            <a:off x="3687092" y="996696"/>
            <a:ext cx="178713" cy="118872"/>
          </a:xfrm>
          <a:prstGeom prst="rect">
            <a:avLst/>
          </a:prstGeom>
          <a:solidFill>
            <a:srgbClr val="A6A6A6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43" name="Shape 41"/>
          <p:cNvSpPr/>
          <p:nvPr/>
        </p:nvSpPr>
        <p:spPr>
          <a:xfrm>
            <a:off x="3873121" y="996696"/>
            <a:ext cx="178713" cy="118872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44" name="Shape 42"/>
          <p:cNvSpPr/>
          <p:nvPr/>
        </p:nvSpPr>
        <p:spPr>
          <a:xfrm>
            <a:off x="4059149" y="996696"/>
            <a:ext cx="178713" cy="11887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45" name="Shape 43"/>
          <p:cNvSpPr/>
          <p:nvPr/>
        </p:nvSpPr>
        <p:spPr>
          <a:xfrm>
            <a:off x="4245177" y="996696"/>
            <a:ext cx="178713" cy="11887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46" name="Shape 44"/>
          <p:cNvSpPr/>
          <p:nvPr/>
        </p:nvSpPr>
        <p:spPr>
          <a:xfrm>
            <a:off x="4431206" y="996696"/>
            <a:ext cx="178713" cy="118872"/>
          </a:xfrm>
          <a:prstGeom prst="rect">
            <a:avLst/>
          </a:prstGeom>
          <a:solidFill>
            <a:srgbClr val="92D05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47" name="Shape 45"/>
          <p:cNvSpPr/>
          <p:nvPr/>
        </p:nvSpPr>
        <p:spPr>
          <a:xfrm>
            <a:off x="4617234" y="996696"/>
            <a:ext cx="178713" cy="118872"/>
          </a:xfrm>
          <a:prstGeom prst="rect">
            <a:avLst/>
          </a:prstGeom>
          <a:solidFill>
            <a:srgbClr val="92D05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48" name="Shape 46"/>
          <p:cNvSpPr/>
          <p:nvPr/>
        </p:nvSpPr>
        <p:spPr>
          <a:xfrm>
            <a:off x="4803262" y="996696"/>
            <a:ext cx="178713" cy="11887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49" name="Shape 47"/>
          <p:cNvSpPr/>
          <p:nvPr/>
        </p:nvSpPr>
        <p:spPr>
          <a:xfrm>
            <a:off x="4989290" y="996696"/>
            <a:ext cx="178713" cy="118872"/>
          </a:xfrm>
          <a:prstGeom prst="rect">
            <a:avLst/>
          </a:prstGeom>
          <a:solidFill>
            <a:srgbClr val="92D05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50" name="Shape 48"/>
          <p:cNvSpPr/>
          <p:nvPr/>
        </p:nvSpPr>
        <p:spPr>
          <a:xfrm>
            <a:off x="5175319" y="996696"/>
            <a:ext cx="178713" cy="118872"/>
          </a:xfrm>
          <a:prstGeom prst="rect">
            <a:avLst/>
          </a:prstGeom>
          <a:solidFill>
            <a:srgbClr val="A6A6A6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51" name="Shape 49"/>
          <p:cNvSpPr/>
          <p:nvPr/>
        </p:nvSpPr>
        <p:spPr>
          <a:xfrm>
            <a:off x="5361347" y="996696"/>
            <a:ext cx="178713" cy="118872"/>
          </a:xfrm>
          <a:prstGeom prst="rect">
            <a:avLst/>
          </a:prstGeom>
          <a:solidFill>
            <a:srgbClr val="A6A6A6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52" name="Shape 50"/>
          <p:cNvSpPr/>
          <p:nvPr/>
        </p:nvSpPr>
        <p:spPr>
          <a:xfrm>
            <a:off x="5547375" y="996696"/>
            <a:ext cx="178713" cy="118872"/>
          </a:xfrm>
          <a:prstGeom prst="rect">
            <a:avLst/>
          </a:prstGeom>
          <a:solidFill>
            <a:srgbClr val="A6A6A6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53" name="Shape 51"/>
          <p:cNvSpPr/>
          <p:nvPr/>
        </p:nvSpPr>
        <p:spPr>
          <a:xfrm>
            <a:off x="5733404" y="996696"/>
            <a:ext cx="178713" cy="118872"/>
          </a:xfrm>
          <a:prstGeom prst="rect">
            <a:avLst/>
          </a:prstGeom>
          <a:solidFill>
            <a:srgbClr val="A6A6A6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54" name="Shape 52"/>
          <p:cNvSpPr/>
          <p:nvPr/>
        </p:nvSpPr>
        <p:spPr>
          <a:xfrm>
            <a:off x="6105460" y="996696"/>
            <a:ext cx="178713" cy="118872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55" name="Shape 53"/>
          <p:cNvSpPr/>
          <p:nvPr/>
        </p:nvSpPr>
        <p:spPr>
          <a:xfrm>
            <a:off x="6291489" y="996696"/>
            <a:ext cx="178713" cy="118872"/>
          </a:xfrm>
          <a:prstGeom prst="rect">
            <a:avLst/>
          </a:prstGeom>
          <a:solidFill>
            <a:srgbClr val="A6A6A6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56" name="Shape 54"/>
          <p:cNvSpPr/>
          <p:nvPr/>
        </p:nvSpPr>
        <p:spPr>
          <a:xfrm>
            <a:off x="6477517" y="996696"/>
            <a:ext cx="178713" cy="118872"/>
          </a:xfrm>
          <a:prstGeom prst="rect">
            <a:avLst/>
          </a:prstGeom>
          <a:solidFill>
            <a:srgbClr val="A6A6A6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57" name="Shape 55"/>
          <p:cNvSpPr/>
          <p:nvPr/>
        </p:nvSpPr>
        <p:spPr>
          <a:xfrm>
            <a:off x="6663545" y="996696"/>
            <a:ext cx="178713" cy="11887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58" name="Shape 56"/>
          <p:cNvSpPr/>
          <p:nvPr/>
        </p:nvSpPr>
        <p:spPr>
          <a:xfrm>
            <a:off x="6849574" y="996696"/>
            <a:ext cx="178713" cy="11887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59" name="Shape 57"/>
          <p:cNvSpPr/>
          <p:nvPr/>
        </p:nvSpPr>
        <p:spPr>
          <a:xfrm>
            <a:off x="7035602" y="996696"/>
            <a:ext cx="178713" cy="11887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60" name="Shape 58"/>
          <p:cNvSpPr/>
          <p:nvPr/>
        </p:nvSpPr>
        <p:spPr>
          <a:xfrm>
            <a:off x="7221630" y="996696"/>
            <a:ext cx="178713" cy="11887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61" name="Shape 59"/>
          <p:cNvSpPr/>
          <p:nvPr/>
        </p:nvSpPr>
        <p:spPr>
          <a:xfrm>
            <a:off x="7407659" y="996696"/>
            <a:ext cx="178713" cy="118872"/>
          </a:xfrm>
          <a:prstGeom prst="rect">
            <a:avLst/>
          </a:prstGeom>
          <a:solidFill>
            <a:srgbClr val="92D05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62" name="Shape 60"/>
          <p:cNvSpPr/>
          <p:nvPr/>
        </p:nvSpPr>
        <p:spPr>
          <a:xfrm>
            <a:off x="7593687" y="996696"/>
            <a:ext cx="178713" cy="11887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63" name="Shape 61"/>
          <p:cNvSpPr/>
          <p:nvPr/>
        </p:nvSpPr>
        <p:spPr>
          <a:xfrm>
            <a:off x="7779715" y="996696"/>
            <a:ext cx="178713" cy="11887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64" name="Shape 62"/>
          <p:cNvSpPr/>
          <p:nvPr/>
        </p:nvSpPr>
        <p:spPr>
          <a:xfrm>
            <a:off x="7965744" y="996696"/>
            <a:ext cx="178713" cy="11887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65" name="Shape 63"/>
          <p:cNvSpPr/>
          <p:nvPr/>
        </p:nvSpPr>
        <p:spPr>
          <a:xfrm>
            <a:off x="8151772" y="996696"/>
            <a:ext cx="178713" cy="11887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66" name="Shape 64"/>
          <p:cNvSpPr/>
          <p:nvPr/>
        </p:nvSpPr>
        <p:spPr>
          <a:xfrm>
            <a:off x="8337800" y="996696"/>
            <a:ext cx="178713" cy="11887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67" name="Shape 65"/>
          <p:cNvSpPr/>
          <p:nvPr/>
        </p:nvSpPr>
        <p:spPr>
          <a:xfrm>
            <a:off x="8523828" y="996696"/>
            <a:ext cx="178713" cy="118872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68" name="Shape 66"/>
          <p:cNvSpPr/>
          <p:nvPr/>
        </p:nvSpPr>
        <p:spPr>
          <a:xfrm>
            <a:off x="8709857" y="996696"/>
            <a:ext cx="178713" cy="118872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69" name="Shape 67"/>
          <p:cNvSpPr/>
          <p:nvPr/>
        </p:nvSpPr>
        <p:spPr>
          <a:xfrm>
            <a:off x="8895885" y="996696"/>
            <a:ext cx="178713" cy="118872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70" name="Shape 68"/>
          <p:cNvSpPr/>
          <p:nvPr/>
        </p:nvSpPr>
        <p:spPr>
          <a:xfrm>
            <a:off x="9081913" y="996696"/>
            <a:ext cx="178713" cy="118872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71" name="Shape 69"/>
          <p:cNvSpPr/>
          <p:nvPr/>
        </p:nvSpPr>
        <p:spPr>
          <a:xfrm>
            <a:off x="9267942" y="996696"/>
            <a:ext cx="178713" cy="118872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72" name="Shape 70"/>
          <p:cNvSpPr/>
          <p:nvPr/>
        </p:nvSpPr>
        <p:spPr>
          <a:xfrm>
            <a:off x="9453970" y="996696"/>
            <a:ext cx="178713" cy="118872"/>
          </a:xfrm>
          <a:prstGeom prst="rect">
            <a:avLst/>
          </a:prstGeom>
          <a:solidFill>
            <a:srgbClr val="92D05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73" name="Shape 71"/>
          <p:cNvSpPr/>
          <p:nvPr/>
        </p:nvSpPr>
        <p:spPr>
          <a:xfrm>
            <a:off x="9639998" y="996696"/>
            <a:ext cx="178713" cy="118872"/>
          </a:xfrm>
          <a:prstGeom prst="rect">
            <a:avLst/>
          </a:prstGeom>
          <a:solidFill>
            <a:srgbClr val="92D05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74" name="Shape 72"/>
          <p:cNvSpPr/>
          <p:nvPr/>
        </p:nvSpPr>
        <p:spPr>
          <a:xfrm>
            <a:off x="9826027" y="996696"/>
            <a:ext cx="178713" cy="118872"/>
          </a:xfrm>
          <a:prstGeom prst="rect">
            <a:avLst/>
          </a:prstGeom>
          <a:solidFill>
            <a:srgbClr val="92D05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75" name="Shape 73"/>
          <p:cNvSpPr/>
          <p:nvPr/>
        </p:nvSpPr>
        <p:spPr>
          <a:xfrm>
            <a:off x="10012055" y="996696"/>
            <a:ext cx="178713" cy="118872"/>
          </a:xfrm>
          <a:prstGeom prst="rect">
            <a:avLst/>
          </a:prstGeom>
          <a:solidFill>
            <a:srgbClr val="92D05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76" name="Shape 74"/>
          <p:cNvSpPr/>
          <p:nvPr/>
        </p:nvSpPr>
        <p:spPr>
          <a:xfrm>
            <a:off x="10198083" y="996696"/>
            <a:ext cx="178713" cy="118872"/>
          </a:xfrm>
          <a:prstGeom prst="rect">
            <a:avLst/>
          </a:prstGeom>
          <a:solidFill>
            <a:srgbClr val="92D05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77" name="Shape 75"/>
          <p:cNvSpPr/>
          <p:nvPr/>
        </p:nvSpPr>
        <p:spPr>
          <a:xfrm>
            <a:off x="10384112" y="996696"/>
            <a:ext cx="178713" cy="118872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78" name="Shape 76"/>
          <p:cNvSpPr/>
          <p:nvPr/>
        </p:nvSpPr>
        <p:spPr>
          <a:xfrm>
            <a:off x="10570140" y="996696"/>
            <a:ext cx="178713" cy="118872"/>
          </a:xfrm>
          <a:prstGeom prst="rect">
            <a:avLst/>
          </a:prstGeom>
          <a:solidFill>
            <a:srgbClr val="A6A6A6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79" name="Shape 77"/>
          <p:cNvSpPr/>
          <p:nvPr/>
        </p:nvSpPr>
        <p:spPr>
          <a:xfrm>
            <a:off x="10756168" y="996696"/>
            <a:ext cx="178713" cy="118872"/>
          </a:xfrm>
          <a:prstGeom prst="rect">
            <a:avLst/>
          </a:prstGeom>
          <a:solidFill>
            <a:srgbClr val="A6A6A6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80" name="Shape 78"/>
          <p:cNvSpPr/>
          <p:nvPr/>
        </p:nvSpPr>
        <p:spPr>
          <a:xfrm>
            <a:off x="10942197" y="996696"/>
            <a:ext cx="178713" cy="118872"/>
          </a:xfrm>
          <a:prstGeom prst="rect">
            <a:avLst/>
          </a:prstGeom>
          <a:solidFill>
            <a:srgbClr val="A6A6A6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81" name="Text 79"/>
          <p:cNvSpPr txBox="1"/>
          <p:nvPr/>
        </p:nvSpPr>
        <p:spPr>
          <a:xfrm>
            <a:off x="228600" y="964692"/>
            <a:ext cx="11887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LMST-belastning pr. uge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1481328" y="1188720"/>
            <a:ext cx="10497312" cy="492061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83" name="Shape 81"/>
          <p:cNvSpPr/>
          <p:nvPr/>
        </p:nvSpPr>
        <p:spPr>
          <a:xfrm>
            <a:off x="228600" y="1188720"/>
            <a:ext cx="1188720" cy="492061"/>
          </a:xfrm>
          <a:prstGeom prst="rect">
            <a:avLst/>
          </a:prstGeom>
          <a:solidFill>
            <a:srgbClr val="8497B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84" name="Shape 82"/>
          <p:cNvSpPr/>
          <p:nvPr/>
        </p:nvSpPr>
        <p:spPr>
          <a:xfrm>
            <a:off x="1481328" y="1717358"/>
            <a:ext cx="10497312" cy="328041"/>
          </a:xfrm>
          <a:prstGeom prst="rect">
            <a:avLst/>
          </a:prstGeom>
          <a:solidFill>
            <a:srgbClr val="E7EBF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85" name="Shape 83"/>
          <p:cNvSpPr/>
          <p:nvPr/>
        </p:nvSpPr>
        <p:spPr>
          <a:xfrm>
            <a:off x="228600" y="1717358"/>
            <a:ext cx="1188720" cy="328041"/>
          </a:xfrm>
          <a:prstGeom prst="rect">
            <a:avLst/>
          </a:prstGeom>
          <a:solidFill>
            <a:srgbClr val="44546A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86" name="Shape 84"/>
          <p:cNvSpPr/>
          <p:nvPr/>
        </p:nvSpPr>
        <p:spPr>
          <a:xfrm>
            <a:off x="1481328" y="2081975"/>
            <a:ext cx="10497312" cy="984123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87" name="Shape 85"/>
          <p:cNvSpPr/>
          <p:nvPr/>
        </p:nvSpPr>
        <p:spPr>
          <a:xfrm>
            <a:off x="228600" y="2081975"/>
            <a:ext cx="1188720" cy="984123"/>
          </a:xfrm>
          <a:prstGeom prst="rect">
            <a:avLst/>
          </a:prstGeom>
          <a:solidFill>
            <a:srgbClr val="2F4B6E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88" name="Shape 86"/>
          <p:cNvSpPr/>
          <p:nvPr/>
        </p:nvSpPr>
        <p:spPr>
          <a:xfrm>
            <a:off x="1481328" y="3102674"/>
            <a:ext cx="10497312" cy="820103"/>
          </a:xfrm>
          <a:prstGeom prst="rect">
            <a:avLst/>
          </a:prstGeom>
          <a:solidFill>
            <a:srgbClr val="E7EBF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89" name="Shape 87"/>
          <p:cNvSpPr/>
          <p:nvPr/>
        </p:nvSpPr>
        <p:spPr>
          <a:xfrm>
            <a:off x="228600" y="3102674"/>
            <a:ext cx="1188720" cy="820103"/>
          </a:xfrm>
          <a:prstGeom prst="rect">
            <a:avLst/>
          </a:prstGeom>
          <a:solidFill>
            <a:srgbClr val="3C5A8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90" name="Shape 88"/>
          <p:cNvSpPr/>
          <p:nvPr/>
        </p:nvSpPr>
        <p:spPr>
          <a:xfrm>
            <a:off x="1481328" y="3959352"/>
            <a:ext cx="10497312" cy="65608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91" name="Shape 89"/>
          <p:cNvSpPr/>
          <p:nvPr/>
        </p:nvSpPr>
        <p:spPr>
          <a:xfrm>
            <a:off x="228600" y="3959352"/>
            <a:ext cx="1188720" cy="656082"/>
          </a:xfrm>
          <a:prstGeom prst="rect">
            <a:avLst/>
          </a:prstGeom>
          <a:solidFill>
            <a:srgbClr val="2F4B6E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92" name="Shape 90"/>
          <p:cNvSpPr/>
          <p:nvPr/>
        </p:nvSpPr>
        <p:spPr>
          <a:xfrm>
            <a:off x="1481328" y="4652010"/>
            <a:ext cx="10497312" cy="1640205"/>
          </a:xfrm>
          <a:prstGeom prst="rect">
            <a:avLst/>
          </a:prstGeom>
          <a:solidFill>
            <a:srgbClr val="E7EBF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93" name="Shape 91"/>
          <p:cNvSpPr/>
          <p:nvPr/>
        </p:nvSpPr>
        <p:spPr>
          <a:xfrm>
            <a:off x="228600" y="4652010"/>
            <a:ext cx="1188720" cy="1640205"/>
          </a:xfrm>
          <a:prstGeom prst="rect">
            <a:avLst/>
          </a:prstGeom>
          <a:solidFill>
            <a:srgbClr val="3C5A8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94" name="Shape 92"/>
          <p:cNvSpPr/>
          <p:nvPr/>
        </p:nvSpPr>
        <p:spPr>
          <a:xfrm>
            <a:off x="1481328" y="6328791"/>
            <a:ext cx="10497312" cy="328041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95" name="Shape 93"/>
          <p:cNvSpPr/>
          <p:nvPr/>
        </p:nvSpPr>
        <p:spPr>
          <a:xfrm>
            <a:off x="228600" y="6328791"/>
            <a:ext cx="1188720" cy="328041"/>
          </a:xfrm>
          <a:prstGeom prst="rect">
            <a:avLst/>
          </a:prstGeom>
          <a:solidFill>
            <a:srgbClr val="44546A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96" name="Shape 94"/>
          <p:cNvSpPr/>
          <p:nvPr/>
        </p:nvSpPr>
        <p:spPr>
          <a:xfrm>
            <a:off x="2570922" y="1188720"/>
            <a:ext cx="132877" cy="5468112"/>
          </a:xfrm>
          <a:prstGeom prst="rect">
            <a:avLst/>
          </a:prstGeom>
          <a:solidFill>
            <a:srgbClr val="C5CFDB">
              <a:alpha val="65000"/>
            </a:srgbClr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97" name="Shape 95"/>
          <p:cNvSpPr/>
          <p:nvPr/>
        </p:nvSpPr>
        <p:spPr>
          <a:xfrm>
            <a:off x="4431206" y="1188720"/>
            <a:ext cx="318906" cy="5468112"/>
          </a:xfrm>
          <a:prstGeom prst="rect">
            <a:avLst/>
          </a:prstGeom>
          <a:solidFill>
            <a:srgbClr val="C5CFDB">
              <a:alpha val="65000"/>
            </a:srgbClr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98" name="Shape 96"/>
          <p:cNvSpPr/>
          <p:nvPr/>
        </p:nvSpPr>
        <p:spPr>
          <a:xfrm>
            <a:off x="5919432" y="1188720"/>
            <a:ext cx="132877" cy="5468112"/>
          </a:xfrm>
          <a:prstGeom prst="rect">
            <a:avLst/>
          </a:prstGeom>
          <a:solidFill>
            <a:srgbClr val="C5CFDB">
              <a:alpha val="65000"/>
            </a:srgbClr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99" name="Shape 97"/>
          <p:cNvSpPr/>
          <p:nvPr/>
        </p:nvSpPr>
        <p:spPr>
          <a:xfrm>
            <a:off x="6929300" y="1188720"/>
            <a:ext cx="132877" cy="5468112"/>
          </a:xfrm>
          <a:prstGeom prst="rect">
            <a:avLst/>
          </a:prstGeom>
          <a:solidFill>
            <a:srgbClr val="C5CFDB">
              <a:alpha val="65000"/>
            </a:srgbClr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00" name="Shape 98"/>
          <p:cNvSpPr/>
          <p:nvPr/>
        </p:nvSpPr>
        <p:spPr>
          <a:xfrm>
            <a:off x="8045470" y="1188720"/>
            <a:ext cx="27432" cy="5468112"/>
          </a:xfrm>
          <a:prstGeom prst="rect">
            <a:avLst/>
          </a:prstGeom>
          <a:solidFill>
            <a:srgbClr val="C5CFDB">
              <a:alpha val="65000"/>
            </a:srgbClr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01" name="Shape 99"/>
          <p:cNvSpPr/>
          <p:nvPr/>
        </p:nvSpPr>
        <p:spPr>
          <a:xfrm>
            <a:off x="8337800" y="1188720"/>
            <a:ext cx="27432" cy="5468112"/>
          </a:xfrm>
          <a:prstGeom prst="rect">
            <a:avLst/>
          </a:prstGeom>
          <a:solidFill>
            <a:srgbClr val="C5CFDB">
              <a:alpha val="65000"/>
            </a:srgbClr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02" name="Shape 100"/>
          <p:cNvSpPr/>
          <p:nvPr/>
        </p:nvSpPr>
        <p:spPr>
          <a:xfrm>
            <a:off x="9639998" y="1188720"/>
            <a:ext cx="690962" cy="5468112"/>
          </a:xfrm>
          <a:prstGeom prst="rect">
            <a:avLst/>
          </a:prstGeom>
          <a:solidFill>
            <a:srgbClr val="C5CFDB">
              <a:alpha val="65000"/>
            </a:srgbClr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03" name="Shape 101"/>
          <p:cNvSpPr/>
          <p:nvPr/>
        </p:nvSpPr>
        <p:spPr>
          <a:xfrm>
            <a:off x="2278592" y="1188720"/>
            <a:ext cx="0" cy="546811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104" name="Shape 102"/>
          <p:cNvSpPr/>
          <p:nvPr/>
        </p:nvSpPr>
        <p:spPr>
          <a:xfrm>
            <a:off x="3102432" y="1188720"/>
            <a:ext cx="0" cy="546811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105" name="Shape 103"/>
          <p:cNvSpPr/>
          <p:nvPr/>
        </p:nvSpPr>
        <p:spPr>
          <a:xfrm>
            <a:off x="3899696" y="1188720"/>
            <a:ext cx="0" cy="546811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106" name="Shape 104"/>
          <p:cNvSpPr/>
          <p:nvPr/>
        </p:nvSpPr>
        <p:spPr>
          <a:xfrm>
            <a:off x="4723536" y="1188720"/>
            <a:ext cx="0" cy="546811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107" name="Shape 105"/>
          <p:cNvSpPr/>
          <p:nvPr/>
        </p:nvSpPr>
        <p:spPr>
          <a:xfrm>
            <a:off x="5547375" y="1188720"/>
            <a:ext cx="0" cy="546811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108" name="Shape 106"/>
          <p:cNvSpPr/>
          <p:nvPr/>
        </p:nvSpPr>
        <p:spPr>
          <a:xfrm>
            <a:off x="6291489" y="1188720"/>
            <a:ext cx="0" cy="546811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109" name="Shape 107"/>
          <p:cNvSpPr/>
          <p:nvPr/>
        </p:nvSpPr>
        <p:spPr>
          <a:xfrm>
            <a:off x="7115328" y="1188720"/>
            <a:ext cx="0" cy="546811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110" name="Shape 108"/>
          <p:cNvSpPr/>
          <p:nvPr/>
        </p:nvSpPr>
        <p:spPr>
          <a:xfrm>
            <a:off x="7912593" y="1188720"/>
            <a:ext cx="0" cy="546811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111" name="Shape 109"/>
          <p:cNvSpPr/>
          <p:nvPr/>
        </p:nvSpPr>
        <p:spPr>
          <a:xfrm>
            <a:off x="8736432" y="1188720"/>
            <a:ext cx="0" cy="546811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112" name="Shape 110"/>
          <p:cNvSpPr/>
          <p:nvPr/>
        </p:nvSpPr>
        <p:spPr>
          <a:xfrm>
            <a:off x="9533696" y="1188720"/>
            <a:ext cx="0" cy="546811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113" name="Shape 111"/>
          <p:cNvSpPr/>
          <p:nvPr/>
        </p:nvSpPr>
        <p:spPr>
          <a:xfrm>
            <a:off x="10357536" y="1188720"/>
            <a:ext cx="0" cy="546811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114" name="Shape 112"/>
          <p:cNvSpPr/>
          <p:nvPr/>
        </p:nvSpPr>
        <p:spPr>
          <a:xfrm>
            <a:off x="11181376" y="1188720"/>
            <a:ext cx="0" cy="546811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115" name="Text 113"/>
          <p:cNvSpPr txBox="1"/>
          <p:nvPr/>
        </p:nvSpPr>
        <p:spPr>
          <a:xfrm>
            <a:off x="283464" y="1188720"/>
            <a:ext cx="1078992" cy="492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Lovgivning</a:t>
            </a:r>
            <a:endParaRPr lang="en-US" sz="800" dirty="0"/>
          </a:p>
        </p:txBody>
      </p:sp>
      <p:sp>
        <p:nvSpPr>
          <p:cNvPr id="116" name="Text 114"/>
          <p:cNvSpPr txBox="1"/>
          <p:nvPr/>
        </p:nvSpPr>
        <p:spPr>
          <a:xfrm>
            <a:off x="283464" y="1717358"/>
            <a:ext cx="1078992" cy="328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Udbudsmateriale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7/10-25–1/10 2026</a:t>
            </a:r>
            <a:endParaRPr lang="en-US" sz="800" dirty="0"/>
          </a:p>
        </p:txBody>
      </p:sp>
      <p:sp>
        <p:nvSpPr>
          <p:cNvPr id="117" name="Text 115"/>
          <p:cNvSpPr txBox="1"/>
          <p:nvPr/>
        </p:nvSpPr>
        <p:spPr>
          <a:xfrm>
            <a:off x="283464" y="2081975"/>
            <a:ext cx="1078992" cy="984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Prækvalifikation</a:t>
            </a:r>
            <a:endParaRPr lang="en-US" sz="800" dirty="0"/>
          </a:p>
          <a:p>
            <a:r>
              <a:rPr lang="en-US" sz="8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2/10–4/12 2026</a:t>
            </a:r>
            <a:endParaRPr lang="en-US" sz="800" dirty="0"/>
          </a:p>
        </p:txBody>
      </p:sp>
      <p:sp>
        <p:nvSpPr>
          <p:cNvPr id="118" name="Text 116"/>
          <p:cNvSpPr txBox="1"/>
          <p:nvPr/>
        </p:nvSpPr>
        <p:spPr>
          <a:xfrm>
            <a:off x="283464" y="3102674"/>
            <a:ext cx="1078992" cy="820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Tilbudsfasen</a:t>
            </a:r>
            <a:endParaRPr lang="en-US" sz="800" dirty="0"/>
          </a:p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(indledende tilbud)</a:t>
            </a:r>
            <a:endParaRPr lang="en-US" sz="800" dirty="0"/>
          </a:p>
          <a:p>
            <a:r>
              <a:rPr lang="en-US" sz="8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7/12–8/2 2026-2027</a:t>
            </a:r>
            <a:endParaRPr lang="en-US" sz="800" dirty="0"/>
          </a:p>
        </p:txBody>
      </p:sp>
      <p:sp>
        <p:nvSpPr>
          <p:cNvPr id="119" name="Text 117"/>
          <p:cNvSpPr txBox="1"/>
          <p:nvPr/>
        </p:nvSpPr>
        <p:spPr>
          <a:xfrm>
            <a:off x="283464" y="3959352"/>
            <a:ext cx="1078992" cy="656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Forhandlingsrunde 1</a:t>
            </a:r>
            <a:endParaRPr lang="en-US" sz="800" dirty="0"/>
          </a:p>
          <a:p>
            <a:r>
              <a:rPr lang="en-US" sz="8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9/2–11/3 2027</a:t>
            </a:r>
            <a:endParaRPr lang="en-US" sz="800" dirty="0"/>
          </a:p>
        </p:txBody>
      </p:sp>
      <p:sp>
        <p:nvSpPr>
          <p:cNvPr id="120" name="Text 118"/>
          <p:cNvSpPr txBox="1"/>
          <p:nvPr/>
        </p:nvSpPr>
        <p:spPr>
          <a:xfrm>
            <a:off x="283464" y="4652010"/>
            <a:ext cx="1078992" cy="1640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Tilbudsfasen</a:t>
            </a:r>
            <a:endParaRPr lang="en-US" sz="800" dirty="0"/>
          </a:p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(endeligt tilbud)</a:t>
            </a:r>
            <a:endParaRPr lang="en-US" sz="800" dirty="0"/>
          </a:p>
          <a:p>
            <a:r>
              <a:rPr lang="en-US" sz="8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12/3–12/8 2027</a:t>
            </a:r>
            <a:endParaRPr lang="en-US" sz="800" dirty="0"/>
          </a:p>
        </p:txBody>
      </p:sp>
      <p:sp>
        <p:nvSpPr>
          <p:cNvPr id="121" name="Text 119"/>
          <p:cNvSpPr txBox="1"/>
          <p:nvPr/>
        </p:nvSpPr>
        <p:spPr>
          <a:xfrm>
            <a:off x="283464" y="6328791"/>
            <a:ext cx="1078992" cy="328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Standstill</a:t>
            </a:r>
            <a:endParaRPr lang="en-US" sz="800" dirty="0"/>
          </a:p>
          <a:p>
            <a:r>
              <a:rPr lang="en-US" sz="8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13/8–24/8 2027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2278592" y="1207172"/>
            <a:ext cx="2444944" cy="127116"/>
          </a:xfrm>
          <a:prstGeom prst="rect">
            <a:avLst/>
          </a:prstGeom>
          <a:solidFill>
            <a:srgbClr val="B4C7E7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23" name="Text 121"/>
          <p:cNvSpPr txBox="1"/>
          <p:nvPr/>
        </p:nvSpPr>
        <p:spPr>
          <a:xfrm>
            <a:off x="2324312" y="1188720"/>
            <a:ext cx="2353504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LMST har lovhjemmel på arbejdsprogram (1/10–31/12)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4723536" y="1207172"/>
            <a:ext cx="6723595" cy="127116"/>
          </a:xfrm>
          <a:prstGeom prst="rect">
            <a:avLst/>
          </a:prstGeom>
          <a:solidFill>
            <a:srgbClr val="B4C7E7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25" name="Text 123"/>
          <p:cNvSpPr txBox="1"/>
          <p:nvPr/>
        </p:nvSpPr>
        <p:spPr>
          <a:xfrm>
            <a:off x="4769256" y="1188720"/>
            <a:ext cx="6632155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LMST og DEP forbereder lovhjemmel til lovprogrammet (1/1–10/9)</a:t>
            </a:r>
            <a:endParaRPr lang="en-US" sz="700" dirty="0"/>
          </a:p>
        </p:txBody>
      </p:sp>
      <p:sp>
        <p:nvSpPr>
          <p:cNvPr id="126" name="Shape 124"/>
          <p:cNvSpPr/>
          <p:nvPr/>
        </p:nvSpPr>
        <p:spPr>
          <a:xfrm rot="5400000">
            <a:off x="6484948" y="1379887"/>
            <a:ext cx="91440" cy="109728"/>
          </a:xfrm>
          <a:prstGeom prst="triangle">
            <a:avLst/>
          </a:prstGeom>
          <a:solidFill>
            <a:srgbClr val="5B6F87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27" name="Text 125"/>
          <p:cNvSpPr txBox="1"/>
          <p:nvPr/>
        </p:nvSpPr>
        <p:spPr>
          <a:xfrm>
            <a:off x="6251435" y="1352741"/>
            <a:ext cx="196937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10/3</a:t>
            </a:r>
            <a:endParaRPr lang="en-US" sz="700" dirty="0"/>
          </a:p>
        </p:txBody>
      </p:sp>
      <p:sp>
        <p:nvSpPr>
          <p:cNvPr id="128" name="Text 126"/>
          <p:cNvSpPr txBox="1"/>
          <p:nvPr/>
        </p:nvSpPr>
        <p:spPr>
          <a:xfrm>
            <a:off x="6612964" y="1352741"/>
            <a:ext cx="2369235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 har givet tilsagn om lovhjemmel på arbejdsprogrammet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 rot="5400000">
            <a:off x="11374835" y="1379887"/>
            <a:ext cx="91440" cy="109728"/>
          </a:xfrm>
          <a:prstGeom prst="triangle">
            <a:avLst/>
          </a:prstGeom>
          <a:solidFill>
            <a:srgbClr val="5B6F87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30" name="Text 128"/>
          <p:cNvSpPr txBox="1"/>
          <p:nvPr/>
        </p:nvSpPr>
        <p:spPr>
          <a:xfrm>
            <a:off x="9406986" y="1352741"/>
            <a:ext cx="1931273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 har godkendt lovhjemmel til lovprogrammet</a:t>
            </a:r>
            <a:endParaRPr lang="en-US" sz="750" dirty="0"/>
          </a:p>
        </p:txBody>
      </p:sp>
      <p:sp>
        <p:nvSpPr>
          <p:cNvPr id="131" name="Text 129"/>
          <p:cNvSpPr txBox="1"/>
          <p:nvPr/>
        </p:nvSpPr>
        <p:spPr>
          <a:xfrm>
            <a:off x="11502851" y="1352741"/>
            <a:ext cx="196937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10/9</a:t>
            </a:r>
            <a:endParaRPr lang="en-US" sz="700" dirty="0"/>
          </a:p>
        </p:txBody>
      </p:sp>
      <p:sp>
        <p:nvSpPr>
          <p:cNvPr id="132" name="Shape 130"/>
          <p:cNvSpPr/>
          <p:nvPr/>
        </p:nvSpPr>
        <p:spPr>
          <a:xfrm>
            <a:off x="11420555" y="1535213"/>
            <a:ext cx="539797" cy="127116"/>
          </a:xfrm>
          <a:prstGeom prst="rect">
            <a:avLst/>
          </a:prstGeom>
          <a:solidFill>
            <a:srgbClr val="B4C7E7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33" name="Shape 131"/>
          <p:cNvSpPr/>
          <p:nvPr/>
        </p:nvSpPr>
        <p:spPr>
          <a:xfrm rot="5400000">
            <a:off x="11918608" y="1543907"/>
            <a:ext cx="193216" cy="109728"/>
          </a:xfrm>
          <a:prstGeom prst="triangle">
            <a:avLst/>
          </a:prstGeom>
          <a:solidFill>
            <a:srgbClr val="B4C7E7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34" name="Text 132"/>
          <p:cNvSpPr txBox="1"/>
          <p:nvPr/>
        </p:nvSpPr>
        <p:spPr>
          <a:xfrm>
            <a:off x="7715999" y="1516761"/>
            <a:ext cx="3649692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Forhandling og vedtagelse i Folketinget (10/9-27 – 1/6-28) · Lovhjemmel godkendt i FT 1/1-28  →</a:t>
            </a:r>
            <a:endParaRPr lang="en-US" sz="750" dirty="0"/>
          </a:p>
        </p:txBody>
      </p:sp>
      <p:sp>
        <p:nvSpPr>
          <p:cNvPr id="135" name="Shape 133"/>
          <p:cNvSpPr/>
          <p:nvPr/>
        </p:nvSpPr>
        <p:spPr>
          <a:xfrm>
            <a:off x="1481328" y="1748521"/>
            <a:ext cx="823840" cy="101693"/>
          </a:xfrm>
          <a:prstGeom prst="rect">
            <a:avLst/>
          </a:prstGeom>
          <a:solidFill>
            <a:srgbClr val="A6A6A6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36" name="Text 134"/>
          <p:cNvSpPr txBox="1"/>
          <p:nvPr/>
        </p:nvSpPr>
        <p:spPr>
          <a:xfrm>
            <a:off x="2350888" y="1717358"/>
            <a:ext cx="1963478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Udformning af udbudsmateriale   </a:t>
            </a: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7/10-25–1/10</a:t>
            </a:r>
            <a:endParaRPr lang="en-US" sz="800" dirty="0"/>
          </a:p>
        </p:txBody>
      </p:sp>
      <p:sp>
        <p:nvSpPr>
          <p:cNvPr id="137" name="Shape 135"/>
          <p:cNvSpPr/>
          <p:nvPr/>
        </p:nvSpPr>
        <p:spPr>
          <a:xfrm>
            <a:off x="2259408" y="1904341"/>
            <a:ext cx="118095" cy="118095"/>
          </a:xfrm>
          <a:prstGeom prst="diamond">
            <a:avLst/>
          </a:prstGeom>
          <a:solidFill>
            <a:srgbClr val="00B0F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138" name="Text 136"/>
          <p:cNvSpPr txBox="1"/>
          <p:nvPr/>
        </p:nvSpPr>
        <p:spPr>
          <a:xfrm>
            <a:off x="2025895" y="1881378"/>
            <a:ext cx="187793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2/10</a:t>
            </a:r>
            <a:endParaRPr lang="en-US" sz="700" dirty="0"/>
          </a:p>
        </p:txBody>
      </p:sp>
      <p:sp>
        <p:nvSpPr>
          <p:cNvPr id="139" name="Text 137"/>
          <p:cNvSpPr txBox="1"/>
          <p:nvPr/>
        </p:nvSpPr>
        <p:spPr>
          <a:xfrm>
            <a:off x="2423223" y="1881378"/>
            <a:ext cx="1118027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Offentliggørelse af udbud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2305168" y="2113138"/>
            <a:ext cx="1036443" cy="101693"/>
          </a:xfrm>
          <a:prstGeom prst="rect">
            <a:avLst/>
          </a:prstGeom>
          <a:solidFill>
            <a:srgbClr val="92D05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41" name="Text 139"/>
          <p:cNvSpPr txBox="1"/>
          <p:nvPr/>
        </p:nvSpPr>
        <p:spPr>
          <a:xfrm>
            <a:off x="1857868" y="2081975"/>
            <a:ext cx="401580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2/10–9/11</a:t>
            </a:r>
            <a:endParaRPr lang="en-US" sz="700" dirty="0"/>
          </a:p>
        </p:txBody>
      </p:sp>
      <p:sp>
        <p:nvSpPr>
          <p:cNvPr id="142" name="Text 140"/>
          <p:cNvSpPr txBox="1"/>
          <p:nvPr/>
        </p:nvSpPr>
        <p:spPr>
          <a:xfrm>
            <a:off x="3387331" y="2081975"/>
            <a:ext cx="1779518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Leverandøren udarbejder prækvalifikation</a:t>
            </a:r>
            <a:endParaRPr lang="en-US" sz="800" dirty="0"/>
          </a:p>
        </p:txBody>
      </p:sp>
      <p:sp>
        <p:nvSpPr>
          <p:cNvPr id="143" name="Shape 141"/>
          <p:cNvSpPr/>
          <p:nvPr/>
        </p:nvSpPr>
        <p:spPr>
          <a:xfrm>
            <a:off x="2305168" y="2277159"/>
            <a:ext cx="1036443" cy="101693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44" name="Text 142"/>
          <p:cNvSpPr txBox="1"/>
          <p:nvPr/>
        </p:nvSpPr>
        <p:spPr>
          <a:xfrm>
            <a:off x="1857868" y="2245995"/>
            <a:ext cx="401580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2/10–9/11</a:t>
            </a:r>
            <a:endParaRPr lang="en-US" sz="700" dirty="0"/>
          </a:p>
        </p:txBody>
      </p:sp>
      <p:sp>
        <p:nvSpPr>
          <p:cNvPr id="145" name="Text 143"/>
          <p:cNvSpPr txBox="1"/>
          <p:nvPr/>
        </p:nvSpPr>
        <p:spPr>
          <a:xfrm>
            <a:off x="3387331" y="2245995"/>
            <a:ext cx="911999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Spørgsmål svar LMST</a:t>
            </a:r>
            <a:endParaRPr lang="en-US" sz="800" dirty="0"/>
          </a:p>
        </p:txBody>
      </p:sp>
      <p:sp>
        <p:nvSpPr>
          <p:cNvPr id="146" name="Shape 144"/>
          <p:cNvSpPr/>
          <p:nvPr/>
        </p:nvSpPr>
        <p:spPr>
          <a:xfrm>
            <a:off x="3269276" y="2432978"/>
            <a:ext cx="118095" cy="118095"/>
          </a:xfrm>
          <a:prstGeom prst="diamond">
            <a:avLst/>
          </a:prstGeom>
          <a:solidFill>
            <a:srgbClr val="7F7F7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147" name="Text 145"/>
          <p:cNvSpPr txBox="1"/>
          <p:nvPr/>
        </p:nvSpPr>
        <p:spPr>
          <a:xfrm>
            <a:off x="3035763" y="2410016"/>
            <a:ext cx="187793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9/11</a:t>
            </a:r>
            <a:endParaRPr lang="en-US" sz="700" dirty="0"/>
          </a:p>
        </p:txBody>
      </p:sp>
      <p:sp>
        <p:nvSpPr>
          <p:cNvPr id="148" name="Text 146"/>
          <p:cNvSpPr txBox="1"/>
          <p:nvPr/>
        </p:nvSpPr>
        <p:spPr>
          <a:xfrm>
            <a:off x="3433091" y="2410016"/>
            <a:ext cx="1751191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Modtagelse af prækvalifikationsmateriale</a:t>
            </a:r>
            <a:endParaRPr lang="en-US" sz="800" dirty="0"/>
          </a:p>
        </p:txBody>
      </p:sp>
      <p:sp>
        <p:nvSpPr>
          <p:cNvPr id="149" name="Shape 147"/>
          <p:cNvSpPr/>
          <p:nvPr/>
        </p:nvSpPr>
        <p:spPr>
          <a:xfrm>
            <a:off x="3341611" y="2605200"/>
            <a:ext cx="584660" cy="101693"/>
          </a:xfrm>
          <a:prstGeom prst="rect">
            <a:avLst/>
          </a:prstGeom>
          <a:solidFill>
            <a:srgbClr val="A6A6A6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50" name="Text 148"/>
          <p:cNvSpPr txBox="1"/>
          <p:nvPr/>
        </p:nvSpPr>
        <p:spPr>
          <a:xfrm>
            <a:off x="2849256" y="2574036"/>
            <a:ext cx="446635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10/11–1/12</a:t>
            </a:r>
            <a:endParaRPr lang="en-US" sz="700" dirty="0"/>
          </a:p>
        </p:txBody>
      </p:sp>
      <p:sp>
        <p:nvSpPr>
          <p:cNvPr id="151" name="Text 149"/>
          <p:cNvSpPr txBox="1"/>
          <p:nvPr/>
        </p:nvSpPr>
        <p:spPr>
          <a:xfrm>
            <a:off x="3971992" y="2574036"/>
            <a:ext cx="1569373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Vurdering og indstilling vedr. prækval</a:t>
            </a:r>
            <a:endParaRPr lang="en-US" sz="800" dirty="0"/>
          </a:p>
        </p:txBody>
      </p:sp>
      <p:sp>
        <p:nvSpPr>
          <p:cNvPr id="152" name="Shape 150"/>
          <p:cNvSpPr/>
          <p:nvPr/>
        </p:nvSpPr>
        <p:spPr>
          <a:xfrm>
            <a:off x="3926272" y="2769220"/>
            <a:ext cx="79726" cy="101693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53" name="Text 151"/>
          <p:cNvSpPr txBox="1"/>
          <p:nvPr/>
        </p:nvSpPr>
        <p:spPr>
          <a:xfrm>
            <a:off x="3478972" y="2738057"/>
            <a:ext cx="401580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2/12–4/12</a:t>
            </a:r>
            <a:endParaRPr lang="en-US" sz="700" dirty="0"/>
          </a:p>
        </p:txBody>
      </p:sp>
      <p:sp>
        <p:nvSpPr>
          <p:cNvPr id="154" name="Text 152"/>
          <p:cNvSpPr txBox="1"/>
          <p:nvPr/>
        </p:nvSpPr>
        <p:spPr>
          <a:xfrm>
            <a:off x="4051718" y="2738057"/>
            <a:ext cx="1676033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Godkendelse af indstilling vedr. prækval</a:t>
            </a:r>
            <a:endParaRPr lang="en-US" sz="800" dirty="0"/>
          </a:p>
        </p:txBody>
      </p:sp>
      <p:sp>
        <p:nvSpPr>
          <p:cNvPr id="155" name="Shape 153"/>
          <p:cNvSpPr/>
          <p:nvPr/>
        </p:nvSpPr>
        <p:spPr>
          <a:xfrm>
            <a:off x="3933663" y="2925040"/>
            <a:ext cx="118095" cy="118095"/>
          </a:xfrm>
          <a:prstGeom prst="diamond">
            <a:avLst/>
          </a:prstGeom>
          <a:solidFill>
            <a:srgbClr val="00B0F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156" name="Text 154"/>
          <p:cNvSpPr txBox="1"/>
          <p:nvPr/>
        </p:nvSpPr>
        <p:spPr>
          <a:xfrm>
            <a:off x="3700150" y="2902077"/>
            <a:ext cx="187793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4/12</a:t>
            </a:r>
            <a:endParaRPr lang="en-US" sz="700" dirty="0"/>
          </a:p>
        </p:txBody>
      </p:sp>
      <p:sp>
        <p:nvSpPr>
          <p:cNvPr id="157" name="Text 155"/>
          <p:cNvSpPr txBox="1"/>
          <p:nvPr/>
        </p:nvSpPr>
        <p:spPr>
          <a:xfrm>
            <a:off x="4097478" y="2902077"/>
            <a:ext cx="2497515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Afslagsbreve + opfordring til afgivelse af indledende tilbud</a:t>
            </a:r>
            <a:endParaRPr lang="en-US" sz="800" dirty="0"/>
          </a:p>
        </p:txBody>
      </p:sp>
      <p:sp>
        <p:nvSpPr>
          <p:cNvPr id="158" name="Shape 156"/>
          <p:cNvSpPr/>
          <p:nvPr/>
        </p:nvSpPr>
        <p:spPr>
          <a:xfrm>
            <a:off x="4059149" y="3133837"/>
            <a:ext cx="1195896" cy="101693"/>
          </a:xfrm>
          <a:prstGeom prst="rect">
            <a:avLst/>
          </a:prstGeom>
          <a:solidFill>
            <a:srgbClr val="92D05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59" name="Text 157"/>
          <p:cNvSpPr txBox="1"/>
          <p:nvPr/>
        </p:nvSpPr>
        <p:spPr>
          <a:xfrm>
            <a:off x="3611849" y="3102674"/>
            <a:ext cx="401580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7/12–20/1</a:t>
            </a:r>
            <a:endParaRPr lang="en-US" sz="700" dirty="0"/>
          </a:p>
        </p:txBody>
      </p:sp>
      <p:sp>
        <p:nvSpPr>
          <p:cNvPr id="160" name="Text 158"/>
          <p:cNvSpPr txBox="1"/>
          <p:nvPr/>
        </p:nvSpPr>
        <p:spPr>
          <a:xfrm>
            <a:off x="5300765" y="3102674"/>
            <a:ext cx="1337399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Tilbudsgivere udarbejder tilbud</a:t>
            </a:r>
            <a:endParaRPr lang="en-US" sz="800" dirty="0"/>
          </a:p>
        </p:txBody>
      </p:sp>
      <p:sp>
        <p:nvSpPr>
          <p:cNvPr id="161" name="Shape 159"/>
          <p:cNvSpPr/>
          <p:nvPr/>
        </p:nvSpPr>
        <p:spPr>
          <a:xfrm>
            <a:off x="4059149" y="3297858"/>
            <a:ext cx="318906" cy="101693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62" name="Text 160"/>
          <p:cNvSpPr txBox="1"/>
          <p:nvPr/>
        </p:nvSpPr>
        <p:spPr>
          <a:xfrm>
            <a:off x="3566794" y="3266694"/>
            <a:ext cx="446635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7/12–18/12</a:t>
            </a:r>
            <a:endParaRPr lang="en-US" sz="700" dirty="0"/>
          </a:p>
        </p:txBody>
      </p:sp>
      <p:sp>
        <p:nvSpPr>
          <p:cNvPr id="163" name="Text 161"/>
          <p:cNvSpPr txBox="1"/>
          <p:nvPr/>
        </p:nvSpPr>
        <p:spPr>
          <a:xfrm>
            <a:off x="4423775" y="3266694"/>
            <a:ext cx="1177012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Spørgsmål svar LMST før jul</a:t>
            </a:r>
            <a:endParaRPr lang="en-US" sz="800" dirty="0"/>
          </a:p>
        </p:txBody>
      </p:sp>
      <p:sp>
        <p:nvSpPr>
          <p:cNvPr id="164" name="Shape 162"/>
          <p:cNvSpPr/>
          <p:nvPr/>
        </p:nvSpPr>
        <p:spPr>
          <a:xfrm>
            <a:off x="4803262" y="3461878"/>
            <a:ext cx="132877" cy="101693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65" name="Text 163"/>
          <p:cNvSpPr txBox="1"/>
          <p:nvPr/>
        </p:nvSpPr>
        <p:spPr>
          <a:xfrm>
            <a:off x="4446073" y="3430715"/>
            <a:ext cx="311469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4/1–8/1</a:t>
            </a:r>
            <a:endParaRPr lang="en-US" sz="700" dirty="0"/>
          </a:p>
        </p:txBody>
      </p:sp>
      <p:sp>
        <p:nvSpPr>
          <p:cNvPr id="166" name="Text 164"/>
          <p:cNvSpPr txBox="1"/>
          <p:nvPr/>
        </p:nvSpPr>
        <p:spPr>
          <a:xfrm>
            <a:off x="4981860" y="3430715"/>
            <a:ext cx="1256040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Spørgsmål svar LMST efter jul</a:t>
            </a:r>
            <a:endParaRPr lang="en-US" sz="800" dirty="0"/>
          </a:p>
        </p:txBody>
      </p:sp>
      <p:sp>
        <p:nvSpPr>
          <p:cNvPr id="167" name="Shape 165"/>
          <p:cNvSpPr/>
          <p:nvPr/>
        </p:nvSpPr>
        <p:spPr>
          <a:xfrm>
            <a:off x="5182710" y="3617698"/>
            <a:ext cx="118095" cy="118095"/>
          </a:xfrm>
          <a:prstGeom prst="diamond">
            <a:avLst/>
          </a:prstGeom>
          <a:solidFill>
            <a:srgbClr val="7F7F7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168" name="Text 166"/>
          <p:cNvSpPr txBox="1"/>
          <p:nvPr/>
        </p:nvSpPr>
        <p:spPr>
          <a:xfrm>
            <a:off x="4949197" y="3594735"/>
            <a:ext cx="187793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20/1</a:t>
            </a:r>
            <a:endParaRPr lang="en-US" sz="700" dirty="0"/>
          </a:p>
        </p:txBody>
      </p:sp>
      <p:sp>
        <p:nvSpPr>
          <p:cNvPr id="169" name="Text 167"/>
          <p:cNvSpPr txBox="1"/>
          <p:nvPr/>
        </p:nvSpPr>
        <p:spPr>
          <a:xfrm>
            <a:off x="5346525" y="3594735"/>
            <a:ext cx="1330603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Modtagelse af tilbudsmateriale</a:t>
            </a:r>
            <a:endParaRPr lang="en-US" sz="800" dirty="0"/>
          </a:p>
        </p:txBody>
      </p:sp>
      <p:sp>
        <p:nvSpPr>
          <p:cNvPr id="170" name="Shape 168"/>
          <p:cNvSpPr/>
          <p:nvPr/>
        </p:nvSpPr>
        <p:spPr>
          <a:xfrm>
            <a:off x="5255045" y="3789919"/>
            <a:ext cx="504934" cy="101693"/>
          </a:xfrm>
          <a:prstGeom prst="rect">
            <a:avLst/>
          </a:prstGeom>
          <a:solidFill>
            <a:srgbClr val="A6A6A6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71" name="Text 169"/>
          <p:cNvSpPr txBox="1"/>
          <p:nvPr/>
        </p:nvSpPr>
        <p:spPr>
          <a:xfrm>
            <a:off x="4852801" y="3758756"/>
            <a:ext cx="356525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21/1–8/2</a:t>
            </a:r>
            <a:endParaRPr lang="en-US" sz="700" dirty="0"/>
          </a:p>
        </p:txBody>
      </p:sp>
      <p:sp>
        <p:nvSpPr>
          <p:cNvPr id="172" name="Text 170"/>
          <p:cNvSpPr txBox="1"/>
          <p:nvPr/>
        </p:nvSpPr>
        <p:spPr>
          <a:xfrm>
            <a:off x="5805699" y="3758756"/>
            <a:ext cx="4180562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Evaluering af tilbud og udarbejdelse af spørgsmål til forhandlingsrunden (beslutning om forhandling)</a:t>
            </a:r>
            <a:endParaRPr lang="en-US" sz="800" dirty="0"/>
          </a:p>
        </p:txBody>
      </p:sp>
      <p:sp>
        <p:nvSpPr>
          <p:cNvPr id="173" name="Shape 171"/>
          <p:cNvSpPr/>
          <p:nvPr/>
        </p:nvSpPr>
        <p:spPr>
          <a:xfrm>
            <a:off x="5759979" y="3990516"/>
            <a:ext cx="106302" cy="101693"/>
          </a:xfrm>
          <a:prstGeom prst="rect">
            <a:avLst/>
          </a:prstGeom>
          <a:solidFill>
            <a:srgbClr val="A6A6A6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74" name="Text 172"/>
          <p:cNvSpPr txBox="1"/>
          <p:nvPr/>
        </p:nvSpPr>
        <p:spPr>
          <a:xfrm>
            <a:off x="5357735" y="3959352"/>
            <a:ext cx="356525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9/2–12/2</a:t>
            </a:r>
            <a:endParaRPr lang="en-US" sz="700" dirty="0"/>
          </a:p>
        </p:txBody>
      </p:sp>
      <p:sp>
        <p:nvSpPr>
          <p:cNvPr id="175" name="Text 173"/>
          <p:cNvSpPr txBox="1"/>
          <p:nvPr/>
        </p:nvSpPr>
        <p:spPr>
          <a:xfrm>
            <a:off x="5912001" y="3959352"/>
            <a:ext cx="2972723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Fremsendelse af diskussionsliste og agenda mv. til tilbudsgiver 1, 2 og 3</a:t>
            </a:r>
            <a:endParaRPr lang="en-US" sz="800" dirty="0"/>
          </a:p>
        </p:txBody>
      </p:sp>
      <p:sp>
        <p:nvSpPr>
          <p:cNvPr id="176" name="Shape 174"/>
          <p:cNvSpPr/>
          <p:nvPr/>
        </p:nvSpPr>
        <p:spPr>
          <a:xfrm>
            <a:off x="6105460" y="4154536"/>
            <a:ext cx="132877" cy="101693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77" name="Text 175"/>
          <p:cNvSpPr txBox="1"/>
          <p:nvPr/>
        </p:nvSpPr>
        <p:spPr>
          <a:xfrm>
            <a:off x="5658160" y="4123373"/>
            <a:ext cx="401580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22/2–26/2</a:t>
            </a:r>
            <a:endParaRPr lang="en-US" sz="700" dirty="0"/>
          </a:p>
        </p:txBody>
      </p:sp>
      <p:sp>
        <p:nvSpPr>
          <p:cNvPr id="178" name="Text 176"/>
          <p:cNvSpPr txBox="1"/>
          <p:nvPr/>
        </p:nvSpPr>
        <p:spPr>
          <a:xfrm>
            <a:off x="6284058" y="4123373"/>
            <a:ext cx="1665168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Dialogmøder med tilbudsgiver 1, 2 og 3</a:t>
            </a:r>
            <a:endParaRPr lang="en-US" sz="800" dirty="0"/>
          </a:p>
        </p:txBody>
      </p:sp>
      <p:sp>
        <p:nvSpPr>
          <p:cNvPr id="179" name="Shape 177"/>
          <p:cNvSpPr/>
          <p:nvPr/>
        </p:nvSpPr>
        <p:spPr>
          <a:xfrm>
            <a:off x="6291489" y="4318557"/>
            <a:ext cx="292330" cy="101693"/>
          </a:xfrm>
          <a:prstGeom prst="rect">
            <a:avLst/>
          </a:prstGeom>
          <a:solidFill>
            <a:srgbClr val="A6A6A6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80" name="Text 178"/>
          <p:cNvSpPr txBox="1"/>
          <p:nvPr/>
        </p:nvSpPr>
        <p:spPr>
          <a:xfrm>
            <a:off x="5889244" y="4287393"/>
            <a:ext cx="356525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1/3–11/3</a:t>
            </a:r>
            <a:endParaRPr lang="en-US" sz="700" dirty="0"/>
          </a:p>
        </p:txBody>
      </p:sp>
      <p:sp>
        <p:nvSpPr>
          <p:cNvPr id="181" name="Text 179"/>
          <p:cNvSpPr txBox="1"/>
          <p:nvPr/>
        </p:nvSpPr>
        <p:spPr>
          <a:xfrm>
            <a:off x="6629539" y="4287393"/>
            <a:ext cx="1307534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Revidering af udbudsmateriale</a:t>
            </a:r>
            <a:endParaRPr lang="en-US" sz="800" dirty="0"/>
          </a:p>
        </p:txBody>
      </p:sp>
      <p:sp>
        <p:nvSpPr>
          <p:cNvPr id="182" name="Shape 180"/>
          <p:cNvSpPr/>
          <p:nvPr/>
        </p:nvSpPr>
        <p:spPr>
          <a:xfrm>
            <a:off x="6511484" y="4474376"/>
            <a:ext cx="118095" cy="118095"/>
          </a:xfrm>
          <a:prstGeom prst="diamond">
            <a:avLst/>
          </a:prstGeom>
          <a:solidFill>
            <a:srgbClr val="7F7F7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183" name="Text 181"/>
          <p:cNvSpPr txBox="1"/>
          <p:nvPr/>
        </p:nvSpPr>
        <p:spPr>
          <a:xfrm>
            <a:off x="6277970" y="4451414"/>
            <a:ext cx="187793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11/3</a:t>
            </a:r>
            <a:endParaRPr lang="en-US" sz="700" dirty="0"/>
          </a:p>
        </p:txBody>
      </p:sp>
      <p:sp>
        <p:nvSpPr>
          <p:cNvPr id="184" name="Text 182"/>
          <p:cNvSpPr txBox="1"/>
          <p:nvPr/>
        </p:nvSpPr>
        <p:spPr>
          <a:xfrm>
            <a:off x="6675299" y="4451414"/>
            <a:ext cx="3798173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Meddelelse om første reviderede tilbud samt udsendelse af evt. revideret udbudsmateriale</a:t>
            </a:r>
            <a:endParaRPr lang="en-US" sz="800" dirty="0"/>
          </a:p>
        </p:txBody>
      </p:sp>
      <p:sp>
        <p:nvSpPr>
          <p:cNvPr id="185" name="Shape 183"/>
          <p:cNvSpPr/>
          <p:nvPr/>
        </p:nvSpPr>
        <p:spPr>
          <a:xfrm>
            <a:off x="6583819" y="4683174"/>
            <a:ext cx="956717" cy="101693"/>
          </a:xfrm>
          <a:prstGeom prst="rect">
            <a:avLst/>
          </a:prstGeom>
          <a:solidFill>
            <a:srgbClr val="92D05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86" name="Text 184"/>
          <p:cNvSpPr txBox="1"/>
          <p:nvPr/>
        </p:nvSpPr>
        <p:spPr>
          <a:xfrm>
            <a:off x="6136519" y="4652010"/>
            <a:ext cx="401580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12/3–16/4</a:t>
            </a:r>
            <a:endParaRPr lang="en-US" sz="700" dirty="0"/>
          </a:p>
        </p:txBody>
      </p:sp>
      <p:sp>
        <p:nvSpPr>
          <p:cNvPr id="187" name="Text 185"/>
          <p:cNvSpPr txBox="1"/>
          <p:nvPr/>
        </p:nvSpPr>
        <p:spPr>
          <a:xfrm>
            <a:off x="7586256" y="4652010"/>
            <a:ext cx="4054554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Tilbudsgivere udarbejder endeligt tilbud (frist vurderes konkret ift. ændringer i udbudsmaterialet)</a:t>
            </a:r>
            <a:endParaRPr lang="en-US" sz="800" dirty="0"/>
          </a:p>
        </p:txBody>
      </p:sp>
      <p:sp>
        <p:nvSpPr>
          <p:cNvPr id="188" name="Shape 186"/>
          <p:cNvSpPr/>
          <p:nvPr/>
        </p:nvSpPr>
        <p:spPr>
          <a:xfrm>
            <a:off x="6663545" y="4847194"/>
            <a:ext cx="690962" cy="101693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89" name="Text 187"/>
          <p:cNvSpPr txBox="1"/>
          <p:nvPr/>
        </p:nvSpPr>
        <p:spPr>
          <a:xfrm>
            <a:off x="6261301" y="4816031"/>
            <a:ext cx="356525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15/3–9/4</a:t>
            </a:r>
            <a:endParaRPr lang="en-US" sz="700" dirty="0"/>
          </a:p>
        </p:txBody>
      </p:sp>
      <p:sp>
        <p:nvSpPr>
          <p:cNvPr id="190" name="Text 188"/>
          <p:cNvSpPr txBox="1"/>
          <p:nvPr/>
        </p:nvSpPr>
        <p:spPr>
          <a:xfrm>
            <a:off x="7400228" y="4816031"/>
            <a:ext cx="911999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Spørgsmål svar LMST</a:t>
            </a:r>
            <a:endParaRPr lang="en-US" sz="800" dirty="0"/>
          </a:p>
        </p:txBody>
      </p:sp>
      <p:sp>
        <p:nvSpPr>
          <p:cNvPr id="191" name="Shape 189"/>
          <p:cNvSpPr/>
          <p:nvPr/>
        </p:nvSpPr>
        <p:spPr>
          <a:xfrm>
            <a:off x="7468201" y="5003014"/>
            <a:ext cx="118095" cy="118095"/>
          </a:xfrm>
          <a:prstGeom prst="diamond">
            <a:avLst/>
          </a:prstGeom>
          <a:solidFill>
            <a:srgbClr val="7F7F7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192" name="Text 190"/>
          <p:cNvSpPr txBox="1"/>
          <p:nvPr/>
        </p:nvSpPr>
        <p:spPr>
          <a:xfrm>
            <a:off x="7234688" y="4980051"/>
            <a:ext cx="187793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16/4</a:t>
            </a:r>
            <a:endParaRPr lang="en-US" sz="700" dirty="0"/>
          </a:p>
        </p:txBody>
      </p:sp>
      <p:sp>
        <p:nvSpPr>
          <p:cNvPr id="193" name="Text 191"/>
          <p:cNvSpPr txBox="1"/>
          <p:nvPr/>
        </p:nvSpPr>
        <p:spPr>
          <a:xfrm>
            <a:off x="7632016" y="4980051"/>
            <a:ext cx="1254998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Modtagelse af endeligt tilbud</a:t>
            </a:r>
            <a:endParaRPr lang="en-US" sz="800" dirty="0"/>
          </a:p>
        </p:txBody>
      </p:sp>
      <p:sp>
        <p:nvSpPr>
          <p:cNvPr id="194" name="Shape 192"/>
          <p:cNvSpPr/>
          <p:nvPr/>
        </p:nvSpPr>
        <p:spPr>
          <a:xfrm>
            <a:off x="7593687" y="5175235"/>
            <a:ext cx="425208" cy="101693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95" name="Text 193"/>
          <p:cNvSpPr txBox="1"/>
          <p:nvPr/>
        </p:nvSpPr>
        <p:spPr>
          <a:xfrm>
            <a:off x="7191442" y="5144072"/>
            <a:ext cx="356525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19/4–4/5</a:t>
            </a:r>
            <a:endParaRPr lang="en-US" sz="700" dirty="0"/>
          </a:p>
        </p:txBody>
      </p:sp>
      <p:sp>
        <p:nvSpPr>
          <p:cNvPr id="196" name="Text 194"/>
          <p:cNvSpPr txBox="1"/>
          <p:nvPr/>
        </p:nvSpPr>
        <p:spPr>
          <a:xfrm>
            <a:off x="8064614" y="5144072"/>
            <a:ext cx="1213277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Evaluering af endelige tilbud</a:t>
            </a:r>
            <a:endParaRPr lang="en-US" sz="800" dirty="0"/>
          </a:p>
        </p:txBody>
      </p:sp>
      <p:sp>
        <p:nvSpPr>
          <p:cNvPr id="197" name="Shape 195"/>
          <p:cNvSpPr/>
          <p:nvPr/>
        </p:nvSpPr>
        <p:spPr>
          <a:xfrm>
            <a:off x="8018894" y="5339256"/>
            <a:ext cx="398632" cy="101693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198" name="Text 196"/>
          <p:cNvSpPr txBox="1"/>
          <p:nvPr/>
        </p:nvSpPr>
        <p:spPr>
          <a:xfrm>
            <a:off x="7616650" y="5308092"/>
            <a:ext cx="356525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5/5–19/5</a:t>
            </a:r>
            <a:endParaRPr lang="en-US" sz="700" dirty="0"/>
          </a:p>
        </p:txBody>
      </p:sp>
      <p:sp>
        <p:nvSpPr>
          <p:cNvPr id="199" name="Text 197"/>
          <p:cNvSpPr txBox="1"/>
          <p:nvPr/>
        </p:nvSpPr>
        <p:spPr>
          <a:xfrm>
            <a:off x="8463247" y="5308092"/>
            <a:ext cx="1904831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Udarbejdelse af indstillingsnotat projektteam</a:t>
            </a:r>
            <a:endParaRPr lang="en-US" sz="800" dirty="0"/>
          </a:p>
        </p:txBody>
      </p:sp>
      <p:sp>
        <p:nvSpPr>
          <p:cNvPr id="200" name="Shape 198"/>
          <p:cNvSpPr/>
          <p:nvPr/>
        </p:nvSpPr>
        <p:spPr>
          <a:xfrm>
            <a:off x="8417527" y="5503276"/>
            <a:ext cx="930142" cy="101693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201" name="Text 199"/>
          <p:cNvSpPr txBox="1"/>
          <p:nvPr/>
        </p:nvSpPr>
        <p:spPr>
          <a:xfrm>
            <a:off x="7970227" y="5472113"/>
            <a:ext cx="401580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20/5–23/6</a:t>
            </a:r>
            <a:endParaRPr lang="en-US" sz="700" dirty="0"/>
          </a:p>
        </p:txBody>
      </p:sp>
      <p:sp>
        <p:nvSpPr>
          <p:cNvPr id="202" name="Text 200"/>
          <p:cNvSpPr txBox="1"/>
          <p:nvPr/>
        </p:nvSpPr>
        <p:spPr>
          <a:xfrm>
            <a:off x="9393388" y="5472113"/>
            <a:ext cx="2348686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 med styregruppe og digitaliseringsboard (4 uger)</a:t>
            </a:r>
            <a:endParaRPr lang="en-US" sz="800" dirty="0"/>
          </a:p>
        </p:txBody>
      </p:sp>
      <p:sp>
        <p:nvSpPr>
          <p:cNvPr id="203" name="Shape 201"/>
          <p:cNvSpPr/>
          <p:nvPr/>
        </p:nvSpPr>
        <p:spPr>
          <a:xfrm>
            <a:off x="9347668" y="5667297"/>
            <a:ext cx="1116170" cy="101693"/>
          </a:xfrm>
          <a:prstGeom prst="rect">
            <a:avLst/>
          </a:prstGeom>
          <a:solidFill>
            <a:srgbClr val="92D05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204" name="Text 202"/>
          <p:cNvSpPr txBox="1"/>
          <p:nvPr/>
        </p:nvSpPr>
        <p:spPr>
          <a:xfrm>
            <a:off x="7218059" y="5636133"/>
            <a:ext cx="2083889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Verifikation af ESPD (ligger uden for vores kontrol)</a:t>
            </a:r>
            <a:endParaRPr lang="en-US" sz="800" dirty="0"/>
          </a:p>
        </p:txBody>
      </p:sp>
      <p:sp>
        <p:nvSpPr>
          <p:cNvPr id="205" name="Text 203"/>
          <p:cNvSpPr txBox="1"/>
          <p:nvPr/>
        </p:nvSpPr>
        <p:spPr>
          <a:xfrm>
            <a:off x="10509558" y="5636133"/>
            <a:ext cx="383957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24/6–4/8</a:t>
            </a:r>
            <a:endParaRPr lang="en-US" sz="700" dirty="0"/>
          </a:p>
        </p:txBody>
      </p:sp>
      <p:sp>
        <p:nvSpPr>
          <p:cNvPr id="206" name="Shape 204"/>
          <p:cNvSpPr/>
          <p:nvPr/>
        </p:nvSpPr>
        <p:spPr>
          <a:xfrm>
            <a:off x="10463838" y="5831317"/>
            <a:ext cx="159453" cy="101693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207" name="Text 205"/>
          <p:cNvSpPr txBox="1"/>
          <p:nvPr/>
        </p:nvSpPr>
        <p:spPr>
          <a:xfrm>
            <a:off x="8108853" y="5800154"/>
            <a:ext cx="2309265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Tjek af verifikation af ESPD og godkendelse af indstilling</a:t>
            </a:r>
            <a:endParaRPr lang="en-US" sz="800" dirty="0"/>
          </a:p>
        </p:txBody>
      </p:sp>
      <p:sp>
        <p:nvSpPr>
          <p:cNvPr id="208" name="Text 206"/>
          <p:cNvSpPr txBox="1"/>
          <p:nvPr/>
        </p:nvSpPr>
        <p:spPr>
          <a:xfrm>
            <a:off x="10669011" y="5800154"/>
            <a:ext cx="383957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5/8–10/8</a:t>
            </a:r>
            <a:endParaRPr lang="en-US" sz="700" dirty="0"/>
          </a:p>
        </p:txBody>
      </p:sp>
      <p:sp>
        <p:nvSpPr>
          <p:cNvPr id="209" name="Shape 207"/>
          <p:cNvSpPr/>
          <p:nvPr/>
        </p:nvSpPr>
        <p:spPr>
          <a:xfrm>
            <a:off x="10623291" y="5995338"/>
            <a:ext cx="53151" cy="101693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210" name="Text 208"/>
          <p:cNvSpPr txBox="1"/>
          <p:nvPr/>
        </p:nvSpPr>
        <p:spPr>
          <a:xfrm>
            <a:off x="10175991" y="5964174"/>
            <a:ext cx="401580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11/8–12/8</a:t>
            </a:r>
            <a:endParaRPr lang="en-US" sz="700" dirty="0"/>
          </a:p>
        </p:txBody>
      </p:sp>
      <p:sp>
        <p:nvSpPr>
          <p:cNvPr id="211" name="Text 209"/>
          <p:cNvSpPr txBox="1"/>
          <p:nvPr/>
        </p:nvSpPr>
        <p:spPr>
          <a:xfrm>
            <a:off x="10722162" y="5964174"/>
            <a:ext cx="1229152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Udarbejdelse af afslagsbreve</a:t>
            </a:r>
            <a:endParaRPr lang="en-US" sz="800" dirty="0"/>
          </a:p>
        </p:txBody>
      </p:sp>
      <p:sp>
        <p:nvSpPr>
          <p:cNvPr id="212" name="Shape 210"/>
          <p:cNvSpPr/>
          <p:nvPr/>
        </p:nvSpPr>
        <p:spPr>
          <a:xfrm>
            <a:off x="10604107" y="6151157"/>
            <a:ext cx="118095" cy="118095"/>
          </a:xfrm>
          <a:prstGeom prst="diamond">
            <a:avLst/>
          </a:prstGeom>
          <a:solidFill>
            <a:srgbClr val="00B0F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213" name="Text 211"/>
          <p:cNvSpPr txBox="1"/>
          <p:nvPr/>
        </p:nvSpPr>
        <p:spPr>
          <a:xfrm>
            <a:off x="10370593" y="6128195"/>
            <a:ext cx="187793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12/8</a:t>
            </a:r>
            <a:endParaRPr lang="en-US" sz="700" dirty="0"/>
          </a:p>
        </p:txBody>
      </p:sp>
      <p:sp>
        <p:nvSpPr>
          <p:cNvPr id="214" name="Text 212"/>
          <p:cNvSpPr txBox="1"/>
          <p:nvPr/>
        </p:nvSpPr>
        <p:spPr>
          <a:xfrm>
            <a:off x="10767921" y="6128195"/>
            <a:ext cx="1183908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Udmelding til tilbudsgivere</a:t>
            </a:r>
            <a:endParaRPr lang="en-US" sz="800" dirty="0"/>
          </a:p>
        </p:txBody>
      </p:sp>
      <p:sp>
        <p:nvSpPr>
          <p:cNvPr id="215" name="Shape 213"/>
          <p:cNvSpPr/>
          <p:nvPr/>
        </p:nvSpPr>
        <p:spPr>
          <a:xfrm>
            <a:off x="10676442" y="6359955"/>
            <a:ext cx="318906" cy="101693"/>
          </a:xfrm>
          <a:prstGeom prst="rect">
            <a:avLst/>
          </a:prstGeom>
          <a:solidFill>
            <a:srgbClr val="A6A6A6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216" name="Text 214"/>
          <p:cNvSpPr txBox="1"/>
          <p:nvPr/>
        </p:nvSpPr>
        <p:spPr>
          <a:xfrm>
            <a:off x="10229142" y="6328791"/>
            <a:ext cx="401580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13/8–24/8</a:t>
            </a:r>
            <a:endParaRPr lang="en-US" sz="700" dirty="0"/>
          </a:p>
        </p:txBody>
      </p:sp>
      <p:sp>
        <p:nvSpPr>
          <p:cNvPr id="217" name="Text 215"/>
          <p:cNvSpPr txBox="1"/>
          <p:nvPr/>
        </p:nvSpPr>
        <p:spPr>
          <a:xfrm>
            <a:off x="11041067" y="6328791"/>
            <a:ext cx="422454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Standstill</a:t>
            </a:r>
            <a:endParaRPr lang="en-US" sz="800" dirty="0"/>
          </a:p>
        </p:txBody>
      </p:sp>
      <p:sp>
        <p:nvSpPr>
          <p:cNvPr id="218" name="Shape 216"/>
          <p:cNvSpPr/>
          <p:nvPr/>
        </p:nvSpPr>
        <p:spPr>
          <a:xfrm>
            <a:off x="10923012" y="6515774"/>
            <a:ext cx="118095" cy="118095"/>
          </a:xfrm>
          <a:prstGeom prst="diamond">
            <a:avLst/>
          </a:prstGeom>
          <a:solidFill>
            <a:srgbClr val="00B0F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219" name="Text 217"/>
          <p:cNvSpPr txBox="1"/>
          <p:nvPr/>
        </p:nvSpPr>
        <p:spPr>
          <a:xfrm>
            <a:off x="9244451" y="6492812"/>
            <a:ext cx="1632841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Tidligst mulige kontraktunderskrivelse</a:t>
            </a:r>
            <a:endParaRPr lang="en-US" sz="800" dirty="0"/>
          </a:p>
        </p:txBody>
      </p:sp>
      <p:sp>
        <p:nvSpPr>
          <p:cNvPr id="220" name="Text 218"/>
          <p:cNvSpPr txBox="1"/>
          <p:nvPr/>
        </p:nvSpPr>
        <p:spPr>
          <a:xfrm>
            <a:off x="11086827" y="6492812"/>
            <a:ext cx="215225" cy="164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24/8</a:t>
            </a:r>
            <a:endParaRPr lang="en-US" sz="700" dirty="0"/>
          </a:p>
        </p:txBody>
      </p:sp>
      <p:sp>
        <p:nvSpPr>
          <p:cNvPr id="221" name="Shape 219"/>
          <p:cNvSpPr/>
          <p:nvPr/>
        </p:nvSpPr>
        <p:spPr>
          <a:xfrm>
            <a:off x="1733795" y="749808"/>
            <a:ext cx="0" cy="5907024"/>
          </a:xfrm>
          <a:prstGeom prst="line">
            <a:avLst/>
          </a:prstGeom>
          <a:noFill/>
          <a:ln w="15875">
            <a:solidFill>
              <a:srgbClr val="C00000"/>
            </a:solidFill>
            <a:prstDash val="dash"/>
          </a:ln>
        </p:spPr>
        <p:txBody>
          <a:bodyPr/>
          <a:lstStyle/>
          <a:p>
            <a:endParaRPr lang="da-DK"/>
          </a:p>
        </p:txBody>
      </p:sp>
      <p:sp>
        <p:nvSpPr>
          <p:cNvPr id="222" name="Text 220"/>
          <p:cNvSpPr txBox="1"/>
          <p:nvPr/>
        </p:nvSpPr>
        <p:spPr>
          <a:xfrm>
            <a:off x="1779515" y="978408"/>
            <a:ext cx="914400" cy="155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dag</a:t>
            </a:r>
            <a:endParaRPr lang="en-US" sz="700" dirty="0"/>
          </a:p>
        </p:txBody>
      </p:sp>
      <p:sp>
        <p:nvSpPr>
          <p:cNvPr id="223" name="Shape 221"/>
          <p:cNvSpPr/>
          <p:nvPr/>
        </p:nvSpPr>
        <p:spPr>
          <a:xfrm>
            <a:off x="7197259" y="123444"/>
            <a:ext cx="182880" cy="7315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224" name="Text 222"/>
          <p:cNvSpPr txBox="1"/>
          <p:nvPr/>
        </p:nvSpPr>
        <p:spPr>
          <a:xfrm>
            <a:off x="7435003" y="91440"/>
            <a:ext cx="158501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Spidsbelastning LMST</a:t>
            </a:r>
            <a:endParaRPr lang="en-US" sz="750" dirty="0"/>
          </a:p>
        </p:txBody>
      </p:sp>
      <p:sp>
        <p:nvSpPr>
          <p:cNvPr id="225" name="Shape 223"/>
          <p:cNvSpPr/>
          <p:nvPr/>
        </p:nvSpPr>
        <p:spPr>
          <a:xfrm>
            <a:off x="7197259" y="265176"/>
            <a:ext cx="182880" cy="73152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226" name="Text 224"/>
          <p:cNvSpPr txBox="1"/>
          <p:nvPr/>
        </p:nvSpPr>
        <p:spPr>
          <a:xfrm>
            <a:off x="7435003" y="233172"/>
            <a:ext cx="158501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Belastning</a:t>
            </a:r>
            <a:endParaRPr lang="en-US" sz="750" dirty="0"/>
          </a:p>
        </p:txBody>
      </p:sp>
      <p:sp>
        <p:nvSpPr>
          <p:cNvPr id="227" name="Shape 225"/>
          <p:cNvSpPr/>
          <p:nvPr/>
        </p:nvSpPr>
        <p:spPr>
          <a:xfrm>
            <a:off x="7197259" y="406908"/>
            <a:ext cx="182880" cy="73152"/>
          </a:xfrm>
          <a:prstGeom prst="rect">
            <a:avLst/>
          </a:prstGeom>
          <a:solidFill>
            <a:srgbClr val="92D05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228" name="Text 226"/>
          <p:cNvSpPr txBox="1"/>
          <p:nvPr/>
        </p:nvSpPr>
        <p:spPr>
          <a:xfrm>
            <a:off x="7435003" y="374904"/>
            <a:ext cx="158501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Bolden hos tilbudsgivere/eksterne</a:t>
            </a:r>
            <a:endParaRPr lang="en-US" sz="750" dirty="0"/>
          </a:p>
        </p:txBody>
      </p:sp>
      <p:sp>
        <p:nvSpPr>
          <p:cNvPr id="229" name="Shape 227"/>
          <p:cNvSpPr/>
          <p:nvPr/>
        </p:nvSpPr>
        <p:spPr>
          <a:xfrm>
            <a:off x="8946864" y="123444"/>
            <a:ext cx="182880" cy="73152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230" name="Text 228"/>
          <p:cNvSpPr txBox="1"/>
          <p:nvPr/>
        </p:nvSpPr>
        <p:spPr>
          <a:xfrm>
            <a:off x="9184608" y="91440"/>
            <a:ext cx="1331797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Godkendelse (STG/DB)</a:t>
            </a:r>
            <a:endParaRPr lang="en-US" sz="750" dirty="0"/>
          </a:p>
        </p:txBody>
      </p:sp>
      <p:sp>
        <p:nvSpPr>
          <p:cNvPr id="231" name="Shape 229"/>
          <p:cNvSpPr/>
          <p:nvPr/>
        </p:nvSpPr>
        <p:spPr>
          <a:xfrm>
            <a:off x="8946864" y="265176"/>
            <a:ext cx="182880" cy="73152"/>
          </a:xfrm>
          <a:prstGeom prst="rect">
            <a:avLst/>
          </a:prstGeom>
          <a:solidFill>
            <a:srgbClr val="A6A6A6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232" name="Text 230"/>
          <p:cNvSpPr txBox="1"/>
          <p:nvPr/>
        </p:nvSpPr>
        <p:spPr>
          <a:xfrm>
            <a:off x="9184608" y="233172"/>
            <a:ext cx="1331797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belastningsmarkering</a:t>
            </a:r>
            <a:endParaRPr lang="en-US" sz="750" dirty="0"/>
          </a:p>
        </p:txBody>
      </p:sp>
      <p:sp>
        <p:nvSpPr>
          <p:cNvPr id="233" name="Shape 231"/>
          <p:cNvSpPr/>
          <p:nvPr/>
        </p:nvSpPr>
        <p:spPr>
          <a:xfrm>
            <a:off x="8946864" y="406908"/>
            <a:ext cx="182880" cy="73152"/>
          </a:xfrm>
          <a:prstGeom prst="rect">
            <a:avLst/>
          </a:prstGeom>
          <a:solidFill>
            <a:srgbClr val="B4C7E7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234" name="Text 232"/>
          <p:cNvSpPr txBox="1"/>
          <p:nvPr/>
        </p:nvSpPr>
        <p:spPr>
          <a:xfrm>
            <a:off x="9184608" y="374904"/>
            <a:ext cx="1331797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Lovgivning (ikke bekræftet)</a:t>
            </a:r>
            <a:endParaRPr lang="en-US" sz="750" dirty="0"/>
          </a:p>
        </p:txBody>
      </p:sp>
      <p:sp>
        <p:nvSpPr>
          <p:cNvPr id="235" name="Shape 233"/>
          <p:cNvSpPr/>
          <p:nvPr/>
        </p:nvSpPr>
        <p:spPr>
          <a:xfrm>
            <a:off x="10484402" y="109728"/>
            <a:ext cx="100584" cy="100584"/>
          </a:xfrm>
          <a:prstGeom prst="diamond">
            <a:avLst/>
          </a:prstGeom>
          <a:solidFill>
            <a:srgbClr val="00B0F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236" name="Text 234"/>
          <p:cNvSpPr txBox="1"/>
          <p:nvPr/>
        </p:nvSpPr>
        <p:spPr>
          <a:xfrm>
            <a:off x="10680998" y="91440"/>
            <a:ext cx="919583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Milepæl</a:t>
            </a:r>
            <a:endParaRPr lang="en-US" sz="750" dirty="0"/>
          </a:p>
        </p:txBody>
      </p:sp>
      <p:sp>
        <p:nvSpPr>
          <p:cNvPr id="237" name="Shape 235"/>
          <p:cNvSpPr/>
          <p:nvPr/>
        </p:nvSpPr>
        <p:spPr>
          <a:xfrm>
            <a:off x="10484402" y="251460"/>
            <a:ext cx="100584" cy="100584"/>
          </a:xfrm>
          <a:prstGeom prst="diamond">
            <a:avLst/>
          </a:prstGeom>
          <a:solidFill>
            <a:srgbClr val="7F7F7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238" name="Text 236"/>
          <p:cNvSpPr txBox="1"/>
          <p:nvPr/>
        </p:nvSpPr>
        <p:spPr>
          <a:xfrm>
            <a:off x="10680998" y="233172"/>
            <a:ext cx="919583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Frist/modtagelse</a:t>
            </a:r>
            <a:endParaRPr lang="en-US" sz="750" dirty="0"/>
          </a:p>
        </p:txBody>
      </p:sp>
      <p:sp>
        <p:nvSpPr>
          <p:cNvPr id="239" name="Shape 237"/>
          <p:cNvSpPr/>
          <p:nvPr/>
        </p:nvSpPr>
        <p:spPr>
          <a:xfrm>
            <a:off x="10443254" y="379476"/>
            <a:ext cx="182880" cy="128016"/>
          </a:xfrm>
          <a:prstGeom prst="rect">
            <a:avLst/>
          </a:prstGeom>
          <a:solidFill>
            <a:srgbClr val="C5CFDB"/>
          </a:solidFill>
          <a:ln/>
        </p:spPr>
        <p:txBody>
          <a:bodyPr/>
          <a:lstStyle/>
          <a:p>
            <a:endParaRPr lang="da-DK"/>
          </a:p>
        </p:txBody>
      </p:sp>
      <p:sp>
        <p:nvSpPr>
          <p:cNvPr id="240" name="Text 238"/>
          <p:cNvSpPr txBox="1"/>
          <p:nvPr/>
        </p:nvSpPr>
        <p:spPr>
          <a:xfrm>
            <a:off x="10680998" y="374904"/>
            <a:ext cx="919583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Ferie/helligdag</a:t>
            </a:r>
            <a:endParaRPr lang="en-US" sz="750" dirty="0"/>
          </a:p>
        </p:txBody>
      </p:sp>
      <p:sp>
        <p:nvSpPr>
          <p:cNvPr id="241" name="Shape 239"/>
          <p:cNvSpPr/>
          <p:nvPr/>
        </p:nvSpPr>
        <p:spPr>
          <a:xfrm>
            <a:off x="11618869" y="91440"/>
            <a:ext cx="0" cy="137160"/>
          </a:xfrm>
          <a:prstGeom prst="line">
            <a:avLst/>
          </a:prstGeom>
          <a:noFill/>
          <a:ln w="15875">
            <a:solidFill>
              <a:srgbClr val="C00000"/>
            </a:solidFill>
            <a:prstDash val="dash"/>
          </a:ln>
        </p:spPr>
        <p:txBody>
          <a:bodyPr/>
          <a:lstStyle/>
          <a:p>
            <a:endParaRPr lang="da-DK"/>
          </a:p>
        </p:txBody>
      </p:sp>
      <p:sp>
        <p:nvSpPr>
          <p:cNvPr id="242" name="Text 240"/>
          <p:cNvSpPr txBox="1"/>
          <p:nvPr/>
        </p:nvSpPr>
        <p:spPr>
          <a:xfrm>
            <a:off x="11692021" y="91440"/>
            <a:ext cx="451211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dag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373CE2A0AAA344A185260442135A2D" ma:contentTypeVersion="7" ma:contentTypeDescription="Create a new document." ma:contentTypeScope="" ma:versionID="c352957fb64d73ea37153bc8851dd08b">
  <xsd:schema xmlns:xsd="http://www.w3.org/2001/XMLSchema" xmlns:xs="http://www.w3.org/2001/XMLSchema" xmlns:p="http://schemas.microsoft.com/office/2006/metadata/properties" xmlns:ns2="2a4fc43e-74cb-4ecd-8f0b-7e4e11483b0c" targetNamespace="http://schemas.microsoft.com/office/2006/metadata/properties" ma:root="true" ma:fieldsID="cdc15103199d3093eb4a2dfc161609bd" ns2:_="">
    <xsd:import namespace="2a4fc43e-74cb-4ecd-8f0b-7e4e11483b0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Godkendtafkund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4fc43e-74cb-4ecd-8f0b-7e4e11483b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Godkendtafkunden" ma:index="14" nillable="true" ma:displayName="Godkendt af kunden" ma:default="Udestår" ma:format="Dropdown" ma:internalName="Godkendtafkunden">
      <xsd:simpleType>
        <xsd:restriction base="dms:Choice">
          <xsd:enumeration value="JA"/>
          <xsd:enumeration value="Udestår"/>
          <xsd:enumeration value="Klar til upload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odkendtafkunden xmlns="2a4fc43e-74cb-4ecd-8f0b-7e4e11483b0c">Udestår</Godkendtafkunden>
  </documentManagement>
</p:properties>
</file>

<file path=customXml/itemProps1.xml><?xml version="1.0" encoding="utf-8"?>
<ds:datastoreItem xmlns:ds="http://schemas.openxmlformats.org/officeDocument/2006/customXml" ds:itemID="{060CAE91-B685-4CC1-B4DD-EC3034940B5D}"/>
</file>

<file path=customXml/itemProps2.xml><?xml version="1.0" encoding="utf-8"?>
<ds:datastoreItem xmlns:ds="http://schemas.openxmlformats.org/officeDocument/2006/customXml" ds:itemID="{7D8EDF7A-34E4-4DE5-A278-58BC4C48CF87}"/>
</file>

<file path=customXml/itemProps3.xml><?xml version="1.0" encoding="utf-8"?>
<ds:datastoreItem xmlns:ds="http://schemas.openxmlformats.org/officeDocument/2006/customXml" ds:itemID="{7F4C40E6-16A4-4D81-AA39-28A33E652936}"/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337</Words>
  <Application>Microsoft Office PowerPoint</Application>
  <PresentationFormat>Widescreen</PresentationFormat>
  <Paragraphs>108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>bki@ramboll.com</Manager>
  <Company>Rambøll Management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DVR tidsplan</dc:title>
  <dc:subject>DVR tidplan for udbud</dc:subject>
  <dc:creator>bki@ramboll.com</dc:creator>
  <cp:lastModifiedBy>Birger Kidmose</cp:lastModifiedBy>
  <cp:revision>7</cp:revision>
  <dcterms:created xsi:type="dcterms:W3CDTF">2026-09-10T07:21:18Z</dcterms:created>
  <dcterms:modified xsi:type="dcterms:W3CDTF">2026-09-10T07:35:22Z</dcterms:modified>
  <cp:category>Tidsplan</cp:category>
  <cp:contentStatus>Version 10-09-26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0x01010024373CE2A0AAA344A185260442135A2D</vt:lpwstr>
  </property>
  <property fmtid="{D5CDD505-2E9C-101B-9397-08002B2CF9AE}" pid="3" name="MSIP_Label_26f68670-8fe7-46b3-b55b-6957d0e86a46_Enabled">
    <vt:lpwstr>True</vt:lpwstr>
  </property>
  <property fmtid="{D5CDD505-2E9C-101B-9397-08002B2CF9AE}" pid="4" name="MSIP_Label_26f68670-8fe7-46b3-b55b-6957d0e86a46_SiteId">
    <vt:lpwstr>c8823c91-be81-4f89-b024-6c3dd789c106</vt:lpwstr>
  </property>
  <property fmtid="{D5CDD505-2E9C-101B-9397-08002B2CF9AE}" pid="5" name="MSIP_Label_26f68670-8fe7-46b3-b55b-6957d0e86a46_SetDate">
    <vt:lpwstr>2026-09-10T07:40:46Z</vt:lpwstr>
  </property>
  <property fmtid="{D5CDD505-2E9C-101B-9397-08002B2CF9AE}" pid="6" name="MSIP_Label_26f68670-8fe7-46b3-b55b-6957d0e86a46_Name">
    <vt:lpwstr>Confidential - NO AI</vt:lpwstr>
  </property>
  <property fmtid="{D5CDD505-2E9C-101B-9397-08002B2CF9AE}" pid="7" name="MSIP_Label_26f68670-8fe7-46b3-b55b-6957d0e86a46_ActionId">
    <vt:lpwstr>37ca6be7-426d-4c31-9011-03e5872a057b</vt:lpwstr>
  </property>
  <property fmtid="{D5CDD505-2E9C-101B-9397-08002B2CF9AE}" pid="8" name="MSIP_Label_26f68670-8fe7-46b3-b55b-6957d0e86a46_Removed">
    <vt:lpwstr>False</vt:lpwstr>
  </property>
  <property fmtid="{D5CDD505-2E9C-101B-9397-08002B2CF9AE}" pid="9" name="MSIP_Label_26f68670-8fe7-46b3-b55b-6957d0e86a46_Extended_MSFT_Method">
    <vt:lpwstr>Standard</vt:lpwstr>
  </property>
  <property fmtid="{D5CDD505-2E9C-101B-9397-08002B2CF9AE}" pid="10" name="Sensitivity">
    <vt:lpwstr>Confidential - NO AI</vt:lpwstr>
  </property>
</Properties>
</file>