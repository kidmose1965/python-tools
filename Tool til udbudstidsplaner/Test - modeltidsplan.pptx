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28016"/>
            <a:ext cx="6858000" cy="2926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800" b="1" i="0">
                <a:solidFill>
                  <a:srgbClr val="1F2A3A"/>
                </a:solidFill>
                <a:latin typeface="Calibri"/>
              </a:rPr>
              <a:t>Udbud af Udbud med forhandling - 1 runde – tidsplan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393192"/>
            <a:ext cx="6858000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Kilde: projektplan (MS Project) pr. 17/9-26 · Farver angiver belastning hos Modelkunde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481328" y="566928"/>
            <a:ext cx="3499546" cy="18288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27048" y="566928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990018" y="566928"/>
            <a:ext cx="6979477" cy="18288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35738" y="566928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1481328" y="749808"/>
            <a:ext cx="853648" cy="201168"/>
          </a:xfrm>
          <a:prstGeom prst="rect">
            <a:avLst/>
          </a:prstGeom>
          <a:solidFill>
            <a:srgbClr val="5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749808"/>
            <a:ext cx="862792" cy="2011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sep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44120" y="749808"/>
            <a:ext cx="882408" cy="201168"/>
          </a:xfrm>
          <a:prstGeom prst="rect">
            <a:avLst/>
          </a:prstGeom>
          <a:solidFill>
            <a:srgbClr val="5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44120" y="749808"/>
            <a:ext cx="891552" cy="2011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okt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5673" y="749808"/>
            <a:ext cx="853648" cy="201168"/>
          </a:xfrm>
          <a:prstGeom prst="rect">
            <a:avLst/>
          </a:prstGeom>
          <a:solidFill>
            <a:srgbClr val="5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35673" y="749808"/>
            <a:ext cx="862792" cy="2011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nov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98466" y="749808"/>
            <a:ext cx="882408" cy="201168"/>
          </a:xfrm>
          <a:prstGeom prst="rect">
            <a:avLst/>
          </a:prstGeom>
          <a:solidFill>
            <a:srgbClr val="5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8466" y="749808"/>
            <a:ext cx="891552" cy="2011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dec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90018" y="749808"/>
            <a:ext cx="882408" cy="201168"/>
          </a:xfrm>
          <a:prstGeom prst="rect">
            <a:avLst/>
          </a:prstGeom>
          <a:solidFill>
            <a:srgbClr val="5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90018" y="749808"/>
            <a:ext cx="891552" cy="2011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jan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81571" y="749808"/>
            <a:ext cx="796129" cy="201168"/>
          </a:xfrm>
          <a:prstGeom prst="rect">
            <a:avLst/>
          </a:prstGeom>
          <a:solidFill>
            <a:srgbClr val="5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1571" y="749808"/>
            <a:ext cx="805273" cy="2011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feb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86844" y="749808"/>
            <a:ext cx="882408" cy="201168"/>
          </a:xfrm>
          <a:prstGeom prst="rect">
            <a:avLst/>
          </a:prstGeom>
          <a:solidFill>
            <a:srgbClr val="5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6844" y="749808"/>
            <a:ext cx="891552" cy="2011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mar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78396" y="749808"/>
            <a:ext cx="853648" cy="201168"/>
          </a:xfrm>
          <a:prstGeom prst="rect">
            <a:avLst/>
          </a:prstGeom>
          <a:solidFill>
            <a:srgbClr val="5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78396" y="749808"/>
            <a:ext cx="862792" cy="2011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apr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41189" y="749808"/>
            <a:ext cx="882408" cy="201168"/>
          </a:xfrm>
          <a:prstGeom prst="rect">
            <a:avLst/>
          </a:prstGeom>
          <a:solidFill>
            <a:srgbClr val="5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1189" y="749808"/>
            <a:ext cx="891552" cy="2011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maj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32742" y="749808"/>
            <a:ext cx="853648" cy="201168"/>
          </a:xfrm>
          <a:prstGeom prst="rect">
            <a:avLst/>
          </a:prstGeom>
          <a:solidFill>
            <a:srgbClr val="5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2742" y="749808"/>
            <a:ext cx="862792" cy="2011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jun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95534" y="749808"/>
            <a:ext cx="882408" cy="201168"/>
          </a:xfrm>
          <a:prstGeom prst="rect">
            <a:avLst/>
          </a:prstGeom>
          <a:solidFill>
            <a:srgbClr val="5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34" y="749808"/>
            <a:ext cx="891552" cy="2011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jul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087087" y="749808"/>
            <a:ext cx="882408" cy="201168"/>
          </a:xfrm>
          <a:prstGeom prst="rect">
            <a:avLst/>
          </a:prstGeom>
          <a:solidFill>
            <a:srgbClr val="5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87087" y="749808"/>
            <a:ext cx="891552" cy="2011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aug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57841" y="996696"/>
            <a:ext cx="194003" cy="11887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59159" y="996696"/>
            <a:ext cx="194003" cy="11887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60478" y="996696"/>
            <a:ext cx="194003" cy="11887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61796" y="996696"/>
            <a:ext cx="194003" cy="11887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63114" y="996696"/>
            <a:ext cx="194003" cy="11887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64433" y="996696"/>
            <a:ext cx="194003" cy="11887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65751" y="996696"/>
            <a:ext cx="194003" cy="11887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76297" y="996696"/>
            <a:ext cx="194003" cy="11887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277616" y="996696"/>
            <a:ext cx="194003" cy="11887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78934" y="996696"/>
            <a:ext cx="194003" cy="11887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80252" y="996696"/>
            <a:ext cx="194003" cy="11887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81571" y="996696"/>
            <a:ext cx="194003" cy="11887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82889" y="996696"/>
            <a:ext cx="194003" cy="11887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4207" y="996696"/>
            <a:ext cx="194003" cy="11887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85526" y="996696"/>
            <a:ext cx="194003" cy="11887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86844" y="996696"/>
            <a:ext cx="194003" cy="11887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88162" y="996696"/>
            <a:ext cx="194003" cy="118872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89480" y="996696"/>
            <a:ext cx="194003" cy="118872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290799" y="996696"/>
            <a:ext cx="194003" cy="118872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92117" y="996696"/>
            <a:ext cx="194003" cy="118872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693435" y="996696"/>
            <a:ext cx="194003" cy="11887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894754" y="996696"/>
            <a:ext cx="194003" cy="11887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96072" y="996696"/>
            <a:ext cx="194003" cy="11887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97390" y="996696"/>
            <a:ext cx="194003" cy="11887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98709" y="996696"/>
            <a:ext cx="194003" cy="11887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00027" y="996696"/>
            <a:ext cx="194003" cy="11887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901345" y="996696"/>
            <a:ext cx="194003" cy="11887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02664" y="996696"/>
            <a:ext cx="194003" cy="11887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03982" y="996696"/>
            <a:ext cx="194003" cy="11887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505300" y="996696"/>
            <a:ext cx="194003" cy="118872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706619" y="996696"/>
            <a:ext cx="194003" cy="118872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07937" y="996696"/>
            <a:ext cx="194003" cy="118872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109255" y="996696"/>
            <a:ext cx="194003" cy="11887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10573" y="996696"/>
            <a:ext cx="194003" cy="118872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11892" y="996696"/>
            <a:ext cx="194003" cy="118872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28600" y="9646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700" b="0" i="1">
                <a:solidFill>
                  <a:srgbClr val="404040"/>
                </a:solidFill>
                <a:latin typeface="Calibri"/>
              </a:rPr>
              <a:t>Modelkunde-belastning pr. uge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81328" y="1188720"/>
            <a:ext cx="10497312" cy="33825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8600" y="1188720"/>
            <a:ext cx="1188720" cy="3382548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481328" y="4607844"/>
            <a:ext cx="10497312" cy="422818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28600" y="4607844"/>
            <a:ext cx="1188720" cy="422818"/>
          </a:xfrm>
          <a:prstGeom prst="rect">
            <a:avLst/>
          </a:prstGeom>
          <a:solidFill>
            <a:srgbClr val="2F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81328" y="5067239"/>
            <a:ext cx="10497312" cy="3523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28600" y="5067239"/>
            <a:ext cx="1188720" cy="352348"/>
          </a:xfrm>
          <a:prstGeom prst="rect">
            <a:avLst/>
          </a:prstGeom>
          <a:solidFill>
            <a:srgbClr val="3C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481328" y="5456163"/>
            <a:ext cx="10497312" cy="281879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28600" y="5456163"/>
            <a:ext cx="1188720" cy="281879"/>
          </a:xfrm>
          <a:prstGeom prst="rect">
            <a:avLst/>
          </a:prstGeom>
          <a:solidFill>
            <a:srgbClr val="2F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481328" y="5774618"/>
            <a:ext cx="10497312" cy="70469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28600" y="5774618"/>
            <a:ext cx="1188720" cy="704697"/>
          </a:xfrm>
          <a:prstGeom prst="rect">
            <a:avLst/>
          </a:prstGeom>
          <a:solidFill>
            <a:srgbClr val="3C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481328" y="6515892"/>
            <a:ext cx="10497312" cy="140939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28600" y="6515892"/>
            <a:ext cx="1188720" cy="140939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660478" y="1188720"/>
            <a:ext cx="143798" cy="5468112"/>
          </a:xfrm>
          <a:prstGeom prst="rect">
            <a:avLst/>
          </a:prstGeom>
          <a:solidFill>
            <a:srgbClr val="C5CFDB"/>
            <a:alpha val="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673661" y="1188720"/>
            <a:ext cx="345117" cy="5468112"/>
          </a:xfrm>
          <a:prstGeom prst="rect">
            <a:avLst/>
          </a:prstGeom>
          <a:solidFill>
            <a:srgbClr val="C5CFDB"/>
            <a:alpha val="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284207" y="1188720"/>
            <a:ext cx="143798" cy="5468112"/>
          </a:xfrm>
          <a:prstGeom prst="rect">
            <a:avLst/>
          </a:prstGeom>
          <a:solidFill>
            <a:srgbClr val="C5CFDB"/>
            <a:alpha val="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77078" y="1188720"/>
            <a:ext cx="143798" cy="5468112"/>
          </a:xfrm>
          <a:prstGeom prst="rect">
            <a:avLst/>
          </a:prstGeom>
          <a:solidFill>
            <a:srgbClr val="C5CFDB"/>
            <a:alpha val="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584988" y="1188720"/>
            <a:ext cx="28759" cy="5468112"/>
          </a:xfrm>
          <a:prstGeom prst="rect">
            <a:avLst/>
          </a:prstGeom>
          <a:solidFill>
            <a:srgbClr val="C5CFDB"/>
            <a:alpha val="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901345" y="1188720"/>
            <a:ext cx="28759" cy="5468112"/>
          </a:xfrm>
          <a:prstGeom prst="rect">
            <a:avLst/>
          </a:prstGeom>
          <a:solidFill>
            <a:srgbClr val="C5CFDB"/>
            <a:alpha val="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310573" y="1188720"/>
            <a:ext cx="747753" cy="5468112"/>
          </a:xfrm>
          <a:prstGeom prst="rect">
            <a:avLst/>
          </a:prstGeom>
          <a:solidFill>
            <a:srgbClr val="C5CFDB"/>
            <a:alpha val="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2344120" y="1188720"/>
            <a:ext cx="0" cy="546811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235673" y="1188720"/>
            <a:ext cx="0" cy="546811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098466" y="1188720"/>
            <a:ext cx="0" cy="546811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990018" y="1188720"/>
            <a:ext cx="0" cy="546811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881571" y="1188720"/>
            <a:ext cx="0" cy="546811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686844" y="1188720"/>
            <a:ext cx="0" cy="546811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578396" y="1188720"/>
            <a:ext cx="0" cy="546811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441189" y="1188720"/>
            <a:ext cx="0" cy="546811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332742" y="1188720"/>
            <a:ext cx="0" cy="546811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195534" y="1188720"/>
            <a:ext cx="0" cy="546811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087087" y="1188720"/>
            <a:ext cx="0" cy="546811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283464" y="1188720"/>
            <a:ext cx="1078992" cy="33825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Udformning af udbudsmateriale</a:t>
            </a:r>
          </a:p>
          <a:p>
            <a:pPr algn="l"/>
            <a:r>
              <a:rPr sz="700" b="0" i="0">
                <a:solidFill>
                  <a:srgbClr val="E0E6EE"/>
                </a:solidFill>
                <a:latin typeface="Calibri"/>
              </a:rPr>
              <a:t>7/10-25–29/1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3464" y="4607844"/>
            <a:ext cx="1078992" cy="42281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Prækvalifikationsfase</a:t>
            </a:r>
          </a:p>
          <a:p>
            <a:pPr algn="l"/>
            <a:r>
              <a:rPr sz="700" b="0" i="0">
                <a:solidFill>
                  <a:srgbClr val="E0E6EE"/>
                </a:solidFill>
                <a:latin typeface="Calibri"/>
              </a:rPr>
              <a:t>30/1-26–9/11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3464" y="5067239"/>
            <a:ext cx="1078992" cy="3523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Tilbudsfasen (indledende tilbud)</a:t>
            </a:r>
          </a:p>
          <a:p>
            <a:pPr algn="l"/>
            <a:r>
              <a:rPr sz="700" b="0" i="0">
                <a:solidFill>
                  <a:srgbClr val="E0E6EE"/>
                </a:solidFill>
                <a:latin typeface="Calibri"/>
              </a:rPr>
              <a:t>14/4-26–27/1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83464" y="5456163"/>
            <a:ext cx="1078992" cy="28187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Forhandlingsrunde 1</a:t>
            </a:r>
          </a:p>
          <a:p>
            <a:pPr algn="l"/>
            <a:r>
              <a:rPr sz="700" b="0" i="0">
                <a:solidFill>
                  <a:srgbClr val="E0E6EE"/>
                </a:solidFill>
                <a:latin typeface="Calibri"/>
              </a:rPr>
              <a:t>28/1–1/3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83464" y="5774618"/>
            <a:ext cx="1078992" cy="70469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Tilbudsfasen (endeligt tilbud)</a:t>
            </a:r>
          </a:p>
          <a:p>
            <a:pPr algn="l"/>
            <a:r>
              <a:rPr sz="700" b="0" i="0">
                <a:solidFill>
                  <a:srgbClr val="E0E6EE"/>
                </a:solidFill>
                <a:latin typeface="Calibri"/>
              </a:rPr>
              <a:t>2/3–1/7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3464" y="6515892"/>
            <a:ext cx="1078992" cy="14093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Standstill</a:t>
            </a:r>
          </a:p>
          <a:p>
            <a:pPr algn="l"/>
            <a:r>
              <a:rPr sz="700" b="0" i="0">
                <a:solidFill>
                  <a:srgbClr val="E0E6EE"/>
                </a:solidFill>
                <a:latin typeface="Calibri"/>
              </a:rPr>
              <a:t>2/7–13/7</a:t>
            </a:r>
          </a:p>
        </p:txBody>
      </p:sp>
      <p:sp>
        <p:nvSpPr>
          <p:cNvPr id="104" name="Diamond 103"/>
          <p:cNvSpPr/>
          <p:nvPr/>
        </p:nvSpPr>
        <p:spPr>
          <a:xfrm>
            <a:off x="1470338" y="1198585"/>
            <a:ext cx="50738" cy="50738"/>
          </a:xfrm>
          <a:prstGeom prst="diamond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566796" y="1188720"/>
            <a:ext cx="117424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0. Initiering af udbud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7/10</a:t>
            </a:r>
          </a:p>
        </p:txBody>
      </p:sp>
      <p:sp>
        <p:nvSpPr>
          <p:cNvPr id="106" name="Diamond 105"/>
          <p:cNvSpPr/>
          <p:nvPr/>
        </p:nvSpPr>
        <p:spPr>
          <a:xfrm>
            <a:off x="1470338" y="1269055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566796" y="1259189"/>
            <a:ext cx="90436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Opstartsmøde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7/10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481328" y="1343048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572768" y="1329659"/>
            <a:ext cx="204163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Forberedelse planlægningsmøde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7/10-25–14/10</a:t>
            </a:r>
          </a:p>
        </p:txBody>
      </p:sp>
      <p:sp>
        <p:nvSpPr>
          <p:cNvPr id="110" name="Diamond 109"/>
          <p:cNvSpPr/>
          <p:nvPr/>
        </p:nvSpPr>
        <p:spPr>
          <a:xfrm>
            <a:off x="1470338" y="1409995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566796" y="1400129"/>
            <a:ext cx="114185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Planlægningsmøde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14/10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481328" y="1483988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572768" y="1470599"/>
            <a:ext cx="127772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Forberedelse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15/10-25–21/10</a:t>
            </a:r>
          </a:p>
        </p:txBody>
      </p:sp>
      <p:sp>
        <p:nvSpPr>
          <p:cNvPr id="114" name="Diamond 113"/>
          <p:cNvSpPr/>
          <p:nvPr/>
        </p:nvSpPr>
        <p:spPr>
          <a:xfrm>
            <a:off x="1470338" y="1550934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566796" y="1541068"/>
            <a:ext cx="275539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1. Workshop - Rammesætning/blueprint og udbudstrategi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21/10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481328" y="1624927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572768" y="1611538"/>
            <a:ext cx="127772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Forberedelse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22/10-25–28/10</a:t>
            </a:r>
          </a:p>
        </p:txBody>
      </p:sp>
      <p:sp>
        <p:nvSpPr>
          <p:cNvPr id="118" name="Diamond 117"/>
          <p:cNvSpPr/>
          <p:nvPr/>
        </p:nvSpPr>
        <p:spPr>
          <a:xfrm>
            <a:off x="1470338" y="1691874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566796" y="1682008"/>
            <a:ext cx="377454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2. Workshop - Kravstruktur og overordnet kravgruppering (kravspecifikation ) del 1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28/10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481328" y="1765867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572768" y="1752478"/>
            <a:ext cx="123264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Forberedelse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29/10-25–4/11</a:t>
            </a:r>
          </a:p>
        </p:txBody>
      </p:sp>
      <p:sp>
        <p:nvSpPr>
          <p:cNvPr id="122" name="Diamond 121"/>
          <p:cNvSpPr/>
          <p:nvPr/>
        </p:nvSpPr>
        <p:spPr>
          <a:xfrm>
            <a:off x="1470338" y="1832813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566796" y="1822947"/>
            <a:ext cx="471944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3. Workshop - Samarbejdsorganisation, kundens ydelser, forpligtelser ved ophør og krav til dokumentation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4/11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481328" y="1906806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572768" y="1893417"/>
            <a:ext cx="123264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Forberedelse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5/11-25–11/11</a:t>
            </a:r>
          </a:p>
        </p:txBody>
      </p:sp>
      <p:sp>
        <p:nvSpPr>
          <p:cNvPr id="126" name="Diamond 125"/>
          <p:cNvSpPr/>
          <p:nvPr/>
        </p:nvSpPr>
        <p:spPr>
          <a:xfrm>
            <a:off x="1470338" y="1973753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566796" y="1963887"/>
            <a:ext cx="246265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4. Workshop - Projektdimension tidsplan og prøver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11/11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481328" y="2047746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572768" y="2034357"/>
            <a:ext cx="127772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Forberedelse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12/11-25–18/11</a:t>
            </a:r>
          </a:p>
        </p:txBody>
      </p:sp>
      <p:sp>
        <p:nvSpPr>
          <p:cNvPr id="130" name="Diamond 129"/>
          <p:cNvSpPr/>
          <p:nvPr/>
        </p:nvSpPr>
        <p:spPr>
          <a:xfrm>
            <a:off x="1470338" y="2114692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566796" y="2104826"/>
            <a:ext cx="280426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5. Workshop - Kundens IT-miljø herunder især driftsforhold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18/11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481328" y="2188685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572768" y="2175296"/>
            <a:ext cx="127772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Forberedelse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19/11-25–25/11</a:t>
            </a:r>
          </a:p>
        </p:txBody>
      </p:sp>
      <p:sp>
        <p:nvSpPr>
          <p:cNvPr id="134" name="Diamond 133"/>
          <p:cNvSpPr/>
          <p:nvPr/>
        </p:nvSpPr>
        <p:spPr>
          <a:xfrm>
            <a:off x="1470338" y="2255632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566796" y="2245766"/>
            <a:ext cx="285824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6. Workshop - Leverancebeskrivelse (Kravspecifikation) del 2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25/11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481328" y="2329625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572768" y="2316236"/>
            <a:ext cx="123264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Forberedelse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26/11-25–2/12</a:t>
            </a:r>
          </a:p>
        </p:txBody>
      </p:sp>
      <p:sp>
        <p:nvSpPr>
          <p:cNvPr id="138" name="Diamond 137"/>
          <p:cNvSpPr/>
          <p:nvPr/>
        </p:nvSpPr>
        <p:spPr>
          <a:xfrm>
            <a:off x="1470338" y="2396571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566796" y="2386705"/>
            <a:ext cx="284048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7. Workshop - . Workshop - Vedligehold , support, servicemål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7/10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481328" y="2470564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572768" y="2457175"/>
            <a:ext cx="123264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Forberedelse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7/10-25–14/10</a:t>
            </a:r>
          </a:p>
        </p:txBody>
      </p:sp>
      <p:sp>
        <p:nvSpPr>
          <p:cNvPr id="142" name="Diamond 141"/>
          <p:cNvSpPr/>
          <p:nvPr/>
        </p:nvSpPr>
        <p:spPr>
          <a:xfrm>
            <a:off x="1470338" y="2537511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566796" y="2527645"/>
            <a:ext cx="285824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8. Workshop - Leverancebeskrivelse (Kravspecifikation) del 3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14/10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481328" y="2611504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572768" y="2598115"/>
            <a:ext cx="127772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Forberedelse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15/10-25–21/10</a:t>
            </a:r>
          </a:p>
        </p:txBody>
      </p:sp>
      <p:sp>
        <p:nvSpPr>
          <p:cNvPr id="146" name="Diamond 145"/>
          <p:cNvSpPr/>
          <p:nvPr/>
        </p:nvSpPr>
        <p:spPr>
          <a:xfrm>
            <a:off x="1470338" y="2678450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566796" y="2668584"/>
            <a:ext cx="153045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9. Workshop- Kravspec del 4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21/10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481328" y="2752443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572768" y="2739054"/>
            <a:ext cx="127772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Forberedelse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22/10-25–31/10</a:t>
            </a:r>
          </a:p>
        </p:txBody>
      </p:sp>
      <p:sp>
        <p:nvSpPr>
          <p:cNvPr id="150" name="Diamond 149"/>
          <p:cNvSpPr/>
          <p:nvPr/>
        </p:nvSpPr>
        <p:spPr>
          <a:xfrm>
            <a:off x="1470338" y="2819390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566796" y="2809524"/>
            <a:ext cx="195275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10. Workshop - Vedr. Bilag 1 og bilag 14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7/10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481328" y="2893383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572768" y="2879994"/>
            <a:ext cx="123264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Forberedelse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7/10-25–14/10</a:t>
            </a:r>
          </a:p>
        </p:txBody>
      </p:sp>
      <p:sp>
        <p:nvSpPr>
          <p:cNvPr id="154" name="Diamond 153"/>
          <p:cNvSpPr/>
          <p:nvPr/>
        </p:nvSpPr>
        <p:spPr>
          <a:xfrm>
            <a:off x="1470338" y="2960329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566796" y="2950464"/>
            <a:ext cx="258392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11. Workshop Opsamling vedr. Kravspecifikation del 5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14/10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481328" y="3034323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572768" y="3020933"/>
            <a:ext cx="127772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Forberedelse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15/10-25–21/10</a:t>
            </a:r>
          </a:p>
        </p:txBody>
      </p:sp>
      <p:sp>
        <p:nvSpPr>
          <p:cNvPr id="158" name="Diamond 157"/>
          <p:cNvSpPr/>
          <p:nvPr/>
        </p:nvSpPr>
        <p:spPr>
          <a:xfrm>
            <a:off x="1470338" y="3101269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566796" y="3091403"/>
            <a:ext cx="279346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12. Workshop - Kontrakten del 1 samt databehandleraftale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21/10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481328" y="3175262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572768" y="3161873"/>
            <a:ext cx="127772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Forberedelse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22/10-25–28/10</a:t>
            </a:r>
          </a:p>
        </p:txBody>
      </p:sp>
      <p:sp>
        <p:nvSpPr>
          <p:cNvPr id="162" name="Diamond 161"/>
          <p:cNvSpPr/>
          <p:nvPr/>
        </p:nvSpPr>
        <p:spPr>
          <a:xfrm>
            <a:off x="1470338" y="3242208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566796" y="3232343"/>
            <a:ext cx="172669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13. Workshop - Vedr. Bilag 5 og 6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28/10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481328" y="3316202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572768" y="3302812"/>
            <a:ext cx="123264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Forberedelse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29/10-25–4/11</a:t>
            </a:r>
          </a:p>
        </p:txBody>
      </p:sp>
      <p:sp>
        <p:nvSpPr>
          <p:cNvPr id="166" name="Diamond 165"/>
          <p:cNvSpPr/>
          <p:nvPr/>
        </p:nvSpPr>
        <p:spPr>
          <a:xfrm>
            <a:off x="1470338" y="3383148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566796" y="3373282"/>
            <a:ext cx="133299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15. Workshop - Vederlag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7/10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481328" y="3457141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572768" y="3443752"/>
            <a:ext cx="123264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Forberedelse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7/10-25–14/10</a:t>
            </a:r>
          </a:p>
        </p:txBody>
      </p:sp>
      <p:sp>
        <p:nvSpPr>
          <p:cNvPr id="170" name="Diamond 169"/>
          <p:cNvSpPr/>
          <p:nvPr/>
        </p:nvSpPr>
        <p:spPr>
          <a:xfrm>
            <a:off x="1470338" y="3524087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566796" y="3514222"/>
            <a:ext cx="567258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16. Workshop Bekendtgørelse, udbudsbetingelser (herunder tildelingskriterier og evalueringsmodel) samt ekstra tjek af vederlag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14/10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481328" y="3598081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572768" y="3584691"/>
            <a:ext cx="127772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Forberedelse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15/10-25–20/10</a:t>
            </a:r>
          </a:p>
        </p:txBody>
      </p:sp>
      <p:sp>
        <p:nvSpPr>
          <p:cNvPr id="174" name="Diamond 173"/>
          <p:cNvSpPr/>
          <p:nvPr/>
        </p:nvSpPr>
        <p:spPr>
          <a:xfrm>
            <a:off x="1470338" y="3665027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566796" y="3655161"/>
            <a:ext cx="242709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17. Workshop - Samlet review af udbudsmateriale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20/10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481328" y="3739020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572768" y="3725631"/>
            <a:ext cx="180539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Evt justering af materialet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21/10-25–23/10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481328" y="3809490"/>
            <a:ext cx="45720" cy="43691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572768" y="3796101"/>
            <a:ext cx="288239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Godkendelse styregruppe af samlet udbudsmateriale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24/10-25–6/11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481328" y="3879960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572768" y="3866570"/>
            <a:ext cx="176030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Evt justering af materialet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7/11-25–12/11</a:t>
            </a:r>
          </a:p>
        </p:txBody>
      </p:sp>
      <p:sp>
        <p:nvSpPr>
          <p:cNvPr id="182" name="Diamond 181"/>
          <p:cNvSpPr/>
          <p:nvPr/>
        </p:nvSpPr>
        <p:spPr>
          <a:xfrm>
            <a:off x="1470338" y="3946906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566796" y="3937040"/>
            <a:ext cx="233121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Reviewmøde - opsamling fra LMST reviewrunde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12/11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481328" y="4020899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572768" y="4007510"/>
            <a:ext cx="110375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Justering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13/11-25–25/11</a:t>
            </a:r>
          </a:p>
        </p:txBody>
      </p:sp>
      <p:sp>
        <p:nvSpPr>
          <p:cNvPr id="186" name="Diamond 185"/>
          <p:cNvSpPr/>
          <p:nvPr/>
        </p:nvSpPr>
        <p:spPr>
          <a:xfrm>
            <a:off x="1470338" y="4087845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566796" y="4077980"/>
            <a:ext cx="206451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Statusmøde vedr. Leverancevederlag etc.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25/11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481328" y="4161839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572768" y="4148449"/>
            <a:ext cx="105867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Justering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26/11-25–4/12</a:t>
            </a:r>
          </a:p>
        </p:txBody>
      </p:sp>
      <p:sp>
        <p:nvSpPr>
          <p:cNvPr id="190" name="Diamond 189"/>
          <p:cNvSpPr/>
          <p:nvPr/>
        </p:nvSpPr>
        <p:spPr>
          <a:xfrm>
            <a:off x="1470338" y="4228785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566796" y="4218919"/>
            <a:ext cx="113804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Samlet reviewmøde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4/12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481328" y="4302778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572768" y="4289389"/>
            <a:ext cx="105867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Justering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5/12-25–11/12</a:t>
            </a:r>
          </a:p>
        </p:txBody>
      </p:sp>
      <p:sp>
        <p:nvSpPr>
          <p:cNvPr id="194" name="Diamond 193"/>
          <p:cNvSpPr/>
          <p:nvPr/>
        </p:nvSpPr>
        <p:spPr>
          <a:xfrm>
            <a:off x="1470338" y="4369724"/>
            <a:ext cx="50738" cy="50738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566796" y="4359859"/>
            <a:ext cx="115646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Styregrupppemøde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11/12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481328" y="4443718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572768" y="4430328"/>
            <a:ext cx="105867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Justering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12/12-25–29/1</a:t>
            </a:r>
          </a:p>
        </p:txBody>
      </p:sp>
      <p:sp>
        <p:nvSpPr>
          <p:cNvPr id="198" name="Diamond 197"/>
          <p:cNvSpPr/>
          <p:nvPr/>
        </p:nvSpPr>
        <p:spPr>
          <a:xfrm>
            <a:off x="1470338" y="4510664"/>
            <a:ext cx="50738" cy="50738"/>
          </a:xfrm>
          <a:prstGeom prst="diamond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566796" y="4500798"/>
            <a:ext cx="3874261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1" i="0">
                <a:solidFill>
                  <a:srgbClr val="1A1A1A"/>
                </a:solidFill>
                <a:latin typeface="Calibri"/>
              </a:rPr>
              <a:t>Indrykning af udbudsbekendtgørelse og publicering af det samlede udbudsmateriale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29/1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1481328" y="4621233"/>
            <a:ext cx="45720" cy="4369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572768" y="4607844"/>
            <a:ext cx="234708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Leverandøren udarbejder prækvalifikation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30/1-26–9/3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2372880" y="4691703"/>
            <a:ext cx="1121630" cy="4369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925332" y="4678314"/>
            <a:ext cx="401828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700" b="0" i="0">
                <a:solidFill>
                  <a:srgbClr val="595959"/>
                </a:solidFill>
                <a:latin typeface="Calibri"/>
              </a:rPr>
              <a:t>2/10–9/11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540231" y="4678314"/>
            <a:ext cx="669925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Spørgsmål svar</a:t>
            </a:r>
          </a:p>
        </p:txBody>
      </p:sp>
      <p:sp>
        <p:nvSpPr>
          <p:cNvPr id="205" name="Diamond 204"/>
          <p:cNvSpPr/>
          <p:nvPr/>
        </p:nvSpPr>
        <p:spPr>
          <a:xfrm>
            <a:off x="1470338" y="4758649"/>
            <a:ext cx="50738" cy="50738"/>
          </a:xfrm>
          <a:prstGeom prst="diamond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566796" y="4748784"/>
            <a:ext cx="198894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Modtagelse af prækvalifikationsmateriale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9/3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481328" y="4832643"/>
            <a:ext cx="45720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572768" y="4819253"/>
            <a:ext cx="214325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Vurdering og indstilling vedr. prækval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10/3-26–8/4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481328" y="4903112"/>
            <a:ext cx="45720" cy="43691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572768" y="4889723"/>
            <a:ext cx="222580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Godkendelse af indstilling vedr prækval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9/4-26–13/4</a:t>
            </a:r>
          </a:p>
        </p:txBody>
      </p:sp>
      <p:sp>
        <p:nvSpPr>
          <p:cNvPr id="211" name="Diamond 210"/>
          <p:cNvSpPr/>
          <p:nvPr/>
        </p:nvSpPr>
        <p:spPr>
          <a:xfrm>
            <a:off x="1470338" y="4970059"/>
            <a:ext cx="50738" cy="50738"/>
          </a:xfrm>
          <a:prstGeom prst="diamond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566796" y="4960193"/>
            <a:ext cx="345643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1" i="0">
                <a:solidFill>
                  <a:srgbClr val="1A1A1A"/>
                </a:solidFill>
                <a:latin typeface="Calibri"/>
              </a:rPr>
              <a:t>Udarbejdelse af afslagsbreve + opfordring til afgivelse af indledende tilbud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13/4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481328" y="5080628"/>
            <a:ext cx="45720" cy="4369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572768" y="5067239"/>
            <a:ext cx="193941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Tilbudsgivere udarbejder tilbud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14/4-26–20/5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1481328" y="5151098"/>
            <a:ext cx="45720" cy="43691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572768" y="5137708"/>
            <a:ext cx="158826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Spørgsmål svar - før jul   </a:t>
            </a:r>
            <a:r>
              <a:rPr sz="700" b="0" i="0">
                <a:solidFill>
                  <a:srgbClr val="595959"/>
                </a:solidFill>
                <a:latin typeface="Calibri"/>
              </a:rPr>
              <a:t>14/4-26–27/4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5076297" y="5221567"/>
            <a:ext cx="143798" cy="43691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4718919" y="5208178"/>
            <a:ext cx="311658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700" b="0" i="0">
                <a:solidFill>
                  <a:srgbClr val="595959"/>
                </a:solidFill>
                <a:latin typeface="Calibri"/>
              </a:rPr>
              <a:t>4/1–8/1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265816" y="5208178"/>
            <a:ext cx="1019175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Spørgsmål svar efter jul</a:t>
            </a:r>
          </a:p>
        </p:txBody>
      </p:sp>
      <p:sp>
        <p:nvSpPr>
          <p:cNvPr id="220" name="Diamond 219"/>
          <p:cNvSpPr/>
          <p:nvPr/>
        </p:nvSpPr>
        <p:spPr>
          <a:xfrm>
            <a:off x="5180347" y="5288514"/>
            <a:ext cx="50738" cy="50738"/>
          </a:xfrm>
          <a:prstGeom prst="diamond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4991879" y="5278648"/>
            <a:ext cx="14274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700" b="0" i="0">
                <a:solidFill>
                  <a:srgbClr val="595959"/>
                </a:solidFill>
                <a:latin typeface="Calibri"/>
              </a:rPr>
              <a:t>8/1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276805" y="5278648"/>
            <a:ext cx="1339850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Modtagelse af tilbudsmateriale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277616" y="5362507"/>
            <a:ext cx="488915" cy="4369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4830068" y="5349118"/>
            <a:ext cx="401828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700" b="0" i="0">
                <a:solidFill>
                  <a:srgbClr val="595959"/>
                </a:solidFill>
                <a:latin typeface="Calibri"/>
              </a:rPr>
              <a:t>11/1–27/1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812252" y="5349118"/>
            <a:ext cx="4197945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Evaluering af tilbud og udarbejdelse af spørgsmål til forhandlingsrunden (beslutning om forhandling)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5766532" y="5469553"/>
            <a:ext cx="172558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5364069" y="5456163"/>
            <a:ext cx="356743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700" b="0" i="0">
                <a:solidFill>
                  <a:srgbClr val="595959"/>
                </a:solidFill>
                <a:latin typeface="Calibri"/>
              </a:rPr>
              <a:t>28/1–2/2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984810" y="5456163"/>
            <a:ext cx="3980795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Forventet tidspunkt for fremsendelse af diskussionsliste og agenda mv. til Tilbudsgiver 1, 2 og 3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5939090" y="5540022"/>
            <a:ext cx="201318" cy="43691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5581712" y="5526633"/>
            <a:ext cx="311658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700" b="0" i="0">
                <a:solidFill>
                  <a:srgbClr val="595959"/>
                </a:solidFill>
                <a:latin typeface="Calibri"/>
              </a:rPr>
              <a:t>3/2–9/2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186128" y="5526633"/>
            <a:ext cx="1667510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Dialogmøder med tilbudsgiver 1, 2 og 3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6140408" y="5610492"/>
            <a:ext cx="575195" cy="4369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5737945" y="5597103"/>
            <a:ext cx="356743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700" b="0" i="0">
                <a:solidFill>
                  <a:srgbClr val="595959"/>
                </a:solidFill>
                <a:latin typeface="Calibri"/>
              </a:rPr>
              <a:t>10/2–1/3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761324" y="5597103"/>
            <a:ext cx="1315085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Revidering af udbudsmateriale</a:t>
            </a:r>
          </a:p>
        </p:txBody>
      </p:sp>
      <p:sp>
        <p:nvSpPr>
          <p:cNvPr id="235" name="Diamond 234"/>
          <p:cNvSpPr/>
          <p:nvPr/>
        </p:nvSpPr>
        <p:spPr>
          <a:xfrm>
            <a:off x="6675855" y="5677438"/>
            <a:ext cx="50738" cy="50738"/>
          </a:xfrm>
          <a:prstGeom prst="diamond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6487387" y="5667573"/>
            <a:ext cx="14274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700" b="0" i="0">
                <a:solidFill>
                  <a:srgbClr val="595959"/>
                </a:solidFill>
                <a:latin typeface="Calibri"/>
              </a:rPr>
              <a:t>1/3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772313" y="5667573"/>
            <a:ext cx="4804390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Forventet tidspunkt for meddelelse om første reviderede tilbud samt udsendelse af evt. revideret udbudsmateriale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6715604" y="5788008"/>
            <a:ext cx="1035351" cy="4369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2026002" y="5774618"/>
            <a:ext cx="464388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800" b="0" i="0">
                <a:solidFill>
                  <a:srgbClr val="1A1A1A"/>
                </a:solidFill>
                <a:latin typeface="Calibri"/>
              </a:rPr>
              <a:t>Tilbudsgivere udarbejder tilbud (frist vurderes konkret I relation til karakteren af ændringer I udbudsmaterialet)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796675" y="5774618"/>
            <a:ext cx="339090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700" b="0" i="0">
                <a:solidFill>
                  <a:srgbClr val="595959"/>
                </a:solidFill>
                <a:latin typeface="Calibri"/>
              </a:rPr>
              <a:t>2/3–6/4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750955" y="5858477"/>
            <a:ext cx="661474" cy="43691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348492" y="5845088"/>
            <a:ext cx="356743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700" b="0" i="0">
                <a:solidFill>
                  <a:srgbClr val="595959"/>
                </a:solidFill>
                <a:latin typeface="Calibri"/>
              </a:rPr>
              <a:t>7/4–29/4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8458149" y="5845088"/>
            <a:ext cx="669925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Spørgsmål svar</a:t>
            </a:r>
          </a:p>
        </p:txBody>
      </p:sp>
      <p:sp>
        <p:nvSpPr>
          <p:cNvPr id="244" name="Diamond 243"/>
          <p:cNvSpPr/>
          <p:nvPr/>
        </p:nvSpPr>
        <p:spPr>
          <a:xfrm>
            <a:off x="8372680" y="5925424"/>
            <a:ext cx="50738" cy="50738"/>
          </a:xfrm>
          <a:prstGeom prst="diamond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8139127" y="5915558"/>
            <a:ext cx="187833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700" b="0" i="0">
                <a:solidFill>
                  <a:srgbClr val="595959"/>
                </a:solidFill>
                <a:latin typeface="Calibri"/>
              </a:rPr>
              <a:t>29/4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469139" y="5915558"/>
            <a:ext cx="1262380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Modtagelse af endeligt tilbud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8412429" y="5999417"/>
            <a:ext cx="546435" cy="43691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7964881" y="5986028"/>
            <a:ext cx="401828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700" b="0" i="0">
                <a:solidFill>
                  <a:srgbClr val="595959"/>
                </a:solidFill>
                <a:latin typeface="Calibri"/>
              </a:rPr>
              <a:t>30/4–18/5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9004585" y="5986028"/>
            <a:ext cx="1221065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Evaluering af endelige tilbud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958865" y="6069887"/>
            <a:ext cx="402636" cy="43691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8556402" y="6056497"/>
            <a:ext cx="356743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700" b="0" i="0">
                <a:solidFill>
                  <a:srgbClr val="595959"/>
                </a:solidFill>
                <a:latin typeface="Calibri"/>
              </a:rPr>
              <a:t>19/5–1/6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9407221" y="6056497"/>
            <a:ext cx="1920874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Udarbejdelse af indstillingsnotat projektteam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9361501" y="6140356"/>
            <a:ext cx="201318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9004123" y="6126967"/>
            <a:ext cx="311658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700" b="0" i="0">
                <a:solidFill>
                  <a:srgbClr val="595959"/>
                </a:solidFill>
                <a:latin typeface="Calibri"/>
              </a:rPr>
              <a:t>2/6–8/6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9608540" y="6126967"/>
            <a:ext cx="1052830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Proces med styregruppe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9562820" y="6210826"/>
            <a:ext cx="402636" cy="4369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7409428" y="6197437"/>
            <a:ext cx="210767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800" b="0" i="0">
                <a:solidFill>
                  <a:srgbClr val="1A1A1A"/>
                </a:solidFill>
                <a:latin typeface="Calibri"/>
              </a:rPr>
              <a:t>Verifikation af ESPD (ligger uden for vores kontrol)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0011176" y="6197437"/>
            <a:ext cx="384175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700" b="0" i="0">
                <a:solidFill>
                  <a:srgbClr val="595959"/>
                </a:solidFill>
                <a:latin typeface="Calibri"/>
              </a:rPr>
              <a:t>9/6–22/6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9965456" y="6281296"/>
            <a:ext cx="201318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7593624" y="6267907"/>
            <a:ext cx="232611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800" b="0" i="0">
                <a:solidFill>
                  <a:srgbClr val="1A1A1A"/>
                </a:solidFill>
                <a:latin typeface="Calibri"/>
              </a:rPr>
              <a:t>Tjek af verifikation af ESPD og godkendelse af indstilling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0212495" y="6267907"/>
            <a:ext cx="429260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700" b="0" i="0">
                <a:solidFill>
                  <a:srgbClr val="595959"/>
                </a:solidFill>
                <a:latin typeface="Calibri"/>
              </a:rPr>
              <a:t>23/6–29/6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10166775" y="6351766"/>
            <a:ext cx="57519" cy="4369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9764312" y="6338376"/>
            <a:ext cx="356743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700" b="0" i="0">
                <a:solidFill>
                  <a:srgbClr val="595959"/>
                </a:solidFill>
                <a:latin typeface="Calibri"/>
              </a:rPr>
              <a:t>30/6–1/7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0270014" y="6338376"/>
            <a:ext cx="1237615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Udarbejdelse af afslagsbreve</a:t>
            </a:r>
          </a:p>
        </p:txBody>
      </p:sp>
      <p:sp>
        <p:nvSpPr>
          <p:cNvPr id="265" name="Diamond 264"/>
          <p:cNvSpPr/>
          <p:nvPr/>
        </p:nvSpPr>
        <p:spPr>
          <a:xfrm>
            <a:off x="10184545" y="6418712"/>
            <a:ext cx="50738" cy="50738"/>
          </a:xfrm>
          <a:prstGeom prst="diamond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9996077" y="6408846"/>
            <a:ext cx="142747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700" b="0" i="0">
                <a:solidFill>
                  <a:srgbClr val="595959"/>
                </a:solidFill>
                <a:latin typeface="Calibri"/>
              </a:rPr>
              <a:t>1/7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0281003" y="6408846"/>
            <a:ext cx="1186815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1" i="0">
                <a:solidFill>
                  <a:srgbClr val="1A1A1A"/>
                </a:solidFill>
                <a:latin typeface="Calibri"/>
              </a:rPr>
              <a:t>Udmelding til tilbudsgivere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10224294" y="6529281"/>
            <a:ext cx="345117" cy="43691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9821831" y="6515892"/>
            <a:ext cx="356743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700" b="0" i="0">
                <a:solidFill>
                  <a:srgbClr val="595959"/>
                </a:solidFill>
                <a:latin typeface="Calibri"/>
              </a:rPr>
              <a:t>2/7–13/7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0615131" y="6515892"/>
            <a:ext cx="427355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Standstill</a:t>
            </a:r>
          </a:p>
        </p:txBody>
      </p:sp>
      <p:sp>
        <p:nvSpPr>
          <p:cNvPr id="271" name="Diamond 270"/>
          <p:cNvSpPr/>
          <p:nvPr/>
        </p:nvSpPr>
        <p:spPr>
          <a:xfrm>
            <a:off x="10529662" y="6596228"/>
            <a:ext cx="50738" cy="50738"/>
          </a:xfrm>
          <a:prstGeom prst="diamond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8839800" y="6586362"/>
            <a:ext cx="1644142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800" b="1" i="0">
                <a:solidFill>
                  <a:srgbClr val="1A1A1A"/>
                </a:solidFill>
                <a:latin typeface="Calibri"/>
              </a:rPr>
              <a:t>Tidligst mulige kontraktunderskrivelse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0626121" y="6586362"/>
            <a:ext cx="215265" cy="7046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700" b="0" i="0">
                <a:solidFill>
                  <a:srgbClr val="595959"/>
                </a:solidFill>
                <a:latin typeface="Calibri"/>
              </a:rPr>
              <a:t>13/7</a:t>
            </a:r>
          </a:p>
        </p:txBody>
      </p:sp>
      <p:cxnSp>
        <p:nvCxnSpPr>
          <p:cNvPr id="274" name="Connector 273"/>
          <p:cNvCxnSpPr/>
          <p:nvPr/>
        </p:nvCxnSpPr>
        <p:spPr>
          <a:xfrm>
            <a:off x="1955864" y="749808"/>
            <a:ext cx="0" cy="5907024"/>
          </a:xfrm>
          <a:prstGeom prst="line">
            <a:avLst/>
          </a:prstGeom>
          <a:ln w="15875">
            <a:solidFill>
              <a:srgbClr val="C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TextBox 274"/>
          <p:cNvSpPr txBox="1"/>
          <p:nvPr/>
        </p:nvSpPr>
        <p:spPr>
          <a:xfrm>
            <a:off x="2001584" y="978408"/>
            <a:ext cx="914400" cy="15544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700" b="1" i="0">
                <a:solidFill>
                  <a:srgbClr val="C00000"/>
                </a:solidFill>
                <a:latin typeface="Calibri"/>
              </a:rPr>
              <a:t>I dag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7177405" y="123444"/>
            <a:ext cx="182880" cy="7315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7415149" y="91440"/>
            <a:ext cx="1594231" cy="1371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750" b="0" i="0">
                <a:solidFill>
                  <a:srgbClr val="404040"/>
                </a:solidFill>
                <a:latin typeface="Calibri"/>
              </a:rPr>
              <a:t>Spidsbelastning Modelkunde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7177405" y="265176"/>
            <a:ext cx="182880" cy="7315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7415149" y="233172"/>
            <a:ext cx="1594231" cy="1371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750" b="0" i="0">
                <a:solidFill>
                  <a:srgbClr val="404040"/>
                </a:solidFill>
                <a:latin typeface="Calibri"/>
              </a:rPr>
              <a:t>Belastning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177405" y="406908"/>
            <a:ext cx="182880" cy="73152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7415149" y="374904"/>
            <a:ext cx="1594231" cy="1371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750" b="0" i="0">
                <a:solidFill>
                  <a:srgbClr val="404040"/>
                </a:solidFill>
                <a:latin typeface="Calibri"/>
              </a:rPr>
              <a:t>Bolden hos tilbudsgivere/eksterne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8936228" y="123444"/>
            <a:ext cx="182880" cy="73152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9173972" y="91440"/>
            <a:ext cx="1338326" cy="1371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750" b="0" i="0">
                <a:solidFill>
                  <a:srgbClr val="404040"/>
                </a:solidFill>
                <a:latin typeface="Calibri"/>
              </a:rPr>
              <a:t>Godkendelse (STG/DB)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8936228" y="265176"/>
            <a:ext cx="182880" cy="73152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9173972" y="233172"/>
            <a:ext cx="1338326" cy="1371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750" b="0" i="0">
                <a:solidFill>
                  <a:srgbClr val="404040"/>
                </a:solidFill>
                <a:latin typeface="Calibri"/>
              </a:rPr>
              <a:t>Ingen belastningsmarkering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936228" y="406908"/>
            <a:ext cx="182880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9173972" y="374904"/>
            <a:ext cx="1338326" cy="1371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750" b="0" i="0">
                <a:solidFill>
                  <a:srgbClr val="404040"/>
                </a:solidFill>
                <a:latin typeface="Calibri"/>
              </a:rPr>
              <a:t>Møde</a:t>
            </a:r>
          </a:p>
        </p:txBody>
      </p:sp>
      <p:sp>
        <p:nvSpPr>
          <p:cNvPr id="288" name="Diamond 287"/>
          <p:cNvSpPr/>
          <p:nvPr/>
        </p:nvSpPr>
        <p:spPr>
          <a:xfrm>
            <a:off x="10480294" y="109728"/>
            <a:ext cx="100584" cy="100584"/>
          </a:xfrm>
          <a:prstGeom prst="diamond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10676890" y="91440"/>
            <a:ext cx="923035" cy="1371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750" b="0" i="0">
                <a:solidFill>
                  <a:srgbClr val="404040"/>
                </a:solidFill>
                <a:latin typeface="Calibri"/>
              </a:rPr>
              <a:t>Milepæl</a:t>
            </a:r>
          </a:p>
        </p:txBody>
      </p:sp>
      <p:sp>
        <p:nvSpPr>
          <p:cNvPr id="290" name="Diamond 289"/>
          <p:cNvSpPr/>
          <p:nvPr/>
        </p:nvSpPr>
        <p:spPr>
          <a:xfrm>
            <a:off x="10480294" y="251460"/>
            <a:ext cx="100584" cy="100584"/>
          </a:xfrm>
          <a:prstGeom prst="diamond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10676890" y="233172"/>
            <a:ext cx="923035" cy="1371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750" b="0" i="0">
                <a:solidFill>
                  <a:srgbClr val="404040"/>
                </a:solidFill>
                <a:latin typeface="Calibri"/>
              </a:rPr>
              <a:t>Frist/modtagelse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0439146" y="379476"/>
            <a:ext cx="182880" cy="128016"/>
          </a:xfrm>
          <a:prstGeom prst="rect">
            <a:avLst/>
          </a:prstGeom>
          <a:solidFill>
            <a:srgbClr val="C5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0676890" y="374904"/>
            <a:ext cx="923035" cy="1371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750" b="0" i="0">
                <a:solidFill>
                  <a:srgbClr val="404040"/>
                </a:solidFill>
                <a:latin typeface="Calibri"/>
              </a:rPr>
              <a:t>Ferie/helligdag</a:t>
            </a:r>
          </a:p>
        </p:txBody>
      </p:sp>
      <p:cxnSp>
        <p:nvCxnSpPr>
          <p:cNvPr id="294" name="Connector 293"/>
          <p:cNvCxnSpPr/>
          <p:nvPr/>
        </p:nvCxnSpPr>
        <p:spPr>
          <a:xfrm>
            <a:off x="11618214" y="91440"/>
            <a:ext cx="0" cy="137160"/>
          </a:xfrm>
          <a:prstGeom prst="line">
            <a:avLst/>
          </a:prstGeom>
          <a:ln w="15875">
            <a:solidFill>
              <a:srgbClr val="C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TextBox 294"/>
          <p:cNvSpPr txBox="1"/>
          <p:nvPr/>
        </p:nvSpPr>
        <p:spPr>
          <a:xfrm>
            <a:off x="11691366" y="91440"/>
            <a:ext cx="451866" cy="1371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750" b="0" i="0">
                <a:solidFill>
                  <a:srgbClr val="404040"/>
                </a:solidFill>
                <a:latin typeface="Calibri"/>
              </a:rPr>
              <a:t>I dag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